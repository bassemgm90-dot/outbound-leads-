
<file path=[Content_Types].xml><?xml version="1.0" encoding="utf-8"?>
<Types xmlns="http://schemas.openxmlformats.org/package/2006/content-types">
  <Default Extension="xml" ContentType="application/xml"/>
  <Default Extension="xlsx" ContentType="application/vnd.openxmlformats-officedocument.spreadsheetml.sheet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5.xml" ContentType="application/vnd.openxmlformats-officedocument.presentationml.slide+xml"/>
  <Override PartName="/ppt/slideLayouts/slideLayout3.xml" ContentType="application/vnd.openxmlformats-officedocument.presentationml.slideLayout+xml"/>
  <Override PartName="/ppt/notesSlides/notesSlide21.xml" ContentType="application/vnd.openxmlformats-officedocument.presentationml.notesSlide+xml"/>
  <Override PartName="/ppt/notesSlides/notesSlide1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2.xml" ContentType="application/vnd.openxmlformats-officedocument.presentationml.notesSlide+xml"/>
  <Override PartName="/ppt/slideLayouts/slideLayout4.xml" ContentType="application/vnd.openxmlformats-officedocument.presentationml.slideLayout+xml"/>
  <Override PartName="/ppt/notesSlides/notesSlide20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5.xml" ContentType="application/vnd.openxmlformats-officedocument.presentationml.notesSlide+xml"/>
  <Override PartName="/ppt/slideLayouts/slideLayout1.xml" ContentType="application/vnd.openxmlformats-officedocument.presentationml.slideLayout+xml"/>
  <Override PartName="/ppt/charts/chart1.xml" ContentType="application/vnd.openxmlformats-officedocument.drawingml.chart+xml"/>
  <Override PartName="/ppt/slides/slide12.xml" ContentType="application/vnd.openxmlformats-officedocument.presentationml.slide+xml"/>
  <Override PartName="/ppt/viewProps.xml" ContentType="application/vnd.openxmlformats-officedocument.presentationml.viewProps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22.xml" ContentType="application/vnd.openxmlformats-officedocument.presentationml.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23.xml" ContentType="application/vnd.openxmlformats-officedocument.presentationml.slide+xml"/>
  <Override PartName="/ppt/tableStyles.xml" ContentType="application/vnd.openxmlformats-officedocument.presentationml.tableStyles+xml"/>
  <Override PartName="/ppt/notesSlides/notesSlide4.xml" ContentType="application/vnd.openxmlformats-officedocument.presentationml.notesSlide+xml"/>
  <Override PartName="/ppt/presentation.xml" ContentType="application/vnd.openxmlformats-officedocument.presentationml.presentation.main+xml"/>
  <Override PartName="/ppt/notesSlides/notesSlide7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27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</p:sldIdLst>
  <p:sldSz cx="12192000" cy="6858000"/>
  <p:notesSz cx="6858000" cy="12192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 /><Relationship Id="rId29" Type="http://schemas.openxmlformats.org/officeDocument/2006/relationships/tableStyles" Target="tableStyles.xml" /><Relationship Id="rId30" Type="http://schemas.openxmlformats.org/officeDocument/2006/relationships/viewProps" Target="viewProps.xml" 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 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5="http://schemas.microsoft.com/office/drawing/2012/chart" xmlns:c14="http://schemas.microsoft.com/office/drawing/2007/8/2/chart" xmlns:c16r2="http://schemas.microsoft.com/office/drawing/2015/06/chart">
  <c:date1904 val="0"/>
  <c:roundedCorners val="1"/>
  <mc:AlternateContent>
    <mc:Choice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300" b="0" i="0" u="none" strike="noStrike">
                <a:solidFill>
                  <a:srgbClr val="1C2321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C2321"/>
                </a:solidFill>
                <a:latin typeface="+mn-lt"/>
              </a:rPr>
              <a:t>Saudi CRM marketing services, USD M (Mordor)</a:t>
            </a:r>
            <a:endParaRPr/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Saudi CRM marketing services (USD M)</c:v>
                </c:pt>
              </c:strCache>
            </c:strRef>
          </c:tx>
          <c:spPr bwMode="auto">
            <a:prstGeom prst="rect">
              <a:avLst/>
            </a:prstGeom>
            <a:solidFill>
              <a:srgbClr val="0B3D3A"/>
            </a:solidFill>
            <a:effectLst/>
          </c:spPr>
          <c:invertIfNegative val="0"/>
          <c:dLbls>
            <c:numFmt formatCode="#,##0" sourceLinked="0"/>
            <c:showBubbleSize val="0"/>
            <c:showCatName val="0"/>
            <c:showLeaderLines val="0"/>
            <c:showLegendKey val="0"/>
            <c:showPercent val="0"/>
            <c:showSerName val="0"/>
            <c:showVal val="1"/>
            <c:txPr>
              <a:bodyPr/>
              <a:lstStyle/>
              <a:p>
                <a:pPr>
                  <a:defRPr sz="1400" b="0" i="0" u="none" strike="noStrike">
                    <a:solidFill>
                      <a:srgbClr val="1C2321"/>
                    </a:solidFill>
                    <a:latin typeface="+mn-lt"/>
                  </a:defRPr>
                </a:pPr>
                <a:endParaRPr/>
              </a:p>
            </c:txPr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2031F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314</c:v>
                </c:pt>
                <c:pt idx="1">
                  <c:v>638</c:v>
                </c:pt>
              </c:numCache>
            </c:numRef>
          </c:val>
        </c:ser>
        <c:dLbls>
          <c:numFmt formatCode="#,##0" sourceLinked="0"/>
          <c:showBubbleSize val="0"/>
          <c:showCatName val="0"/>
          <c:showLeaderLines val="0"/>
          <c:showLegendKey val="0"/>
          <c:showPercent val="0"/>
          <c:showSerName val="0"/>
          <c:showVal val="1"/>
          <c:txPr>
            <a:bodyPr/>
            <a:lstStyle/>
            <a:p>
              <a:pPr>
                <a:defRPr sz="1400" b="0" i="0" u="none" strike="noStrike">
                  <a:solidFill>
                    <a:srgbClr val="1C2321"/>
                  </a:solidFill>
                  <a:latin typeface="+mn-lt"/>
                </a:defRPr>
              </a:pPr>
              <a:endParaRPr/>
            </a:p>
          </c:txPr>
        </c:dLbls>
        <c:gapWidth val="8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 bwMode="auto">
          <a:prstGeom prst="rect">
            <a:avLst/>
          </a:prstGeom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B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 bwMode="auto">
            <a:prstGeom prst="rect">
              <a:avLst/>
            </a:prstGeom>
            <a:ln w="6350" cap="flat">
              <a:solidFill>
                <a:srgbClr val="DCE7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 bwMode="auto">
          <a:prstGeom prst="rect">
            <a:avLst/>
          </a:prstGeom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B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 bwMode="auto">
        <a:prstGeom prst="rect">
          <a:avLst/>
        </a:prstGeom>
        <a:noFill/>
        <a:ln>
          <a:noFill/>
        </a:ln>
        <a:effectLst/>
      </c:spPr>
    </c:plotArea>
    <c:plotVisOnly val="1"/>
    <c:dispBlanksAs val="span"/>
    <c:showDLblsOverMax val="0"/>
  </c:chart>
  <c:spPr bwMode="auto">
    <a:xfrm rot="0">
      <a:off x="548640" y="1280160"/>
      <a:ext cx="5852160" cy="4754880"/>
    </a:xfrm>
    <a:prstGeom prst="rect">
      <a:avLst/>
    </a:prstGeom>
    <a:noFill/>
    <a:ln>
      <a:noFill/>
    </a:ln>
    <a:effectLst/>
  </c:spPr>
  <c:externalData r:id="rId1">
    <c:autoUpdate val="1"/>
  </c:externalData>
</c:chartSpace>
</file>

<file path=ppt/embeddings/_rels/Microsoft_Excel_Worksheet1.xlsx.rels><?xml version="1.0" encoding="UTF-8" standalone="yes"?><Relationships xmlns="http://schemas.openxmlformats.org/package/2006/relationships"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7580724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06250747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921781613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322769026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649758771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857894181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 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 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042447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923404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Open with the thesis: Ashapura should not enter as 'another Salesforce partner'. Win with a local front and an offshore engine.</a:t>
            </a:r>
            <a:endParaRPr lang="en-US"/>
          </a:p>
        </p:txBody>
      </p:sp>
      <p:sp>
        <p:nvSpPr>
          <p:cNvPr id="2125622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69510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549918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Four messages. Everything after this slide proves one of them.</a:t>
            </a:r>
            <a:endParaRPr lang="en-US"/>
          </a:p>
        </p:txBody>
      </p:sp>
      <p:sp>
        <p:nvSpPr>
          <p:cNvPr id="18783968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9356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116301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They are hiring a person as much as a plan. Keep this to 60 seconds: experience, proof, network, readiness.</a:t>
            </a:r>
            <a:endParaRPr lang="en-US"/>
          </a:p>
        </p:txBody>
      </p:sp>
      <p:sp>
        <p:nvSpPr>
          <p:cNvPr id="21183658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072264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394594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95416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732245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771010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Salesforce's $500M pledge explicitly includes expanding the local partner ecosystem. Hyperforce removes the data-residency blocker for banks, government and healthcare.</a:t>
            </a:r>
            <a:endParaRPr lang="en-US"/>
          </a:p>
        </p:txBody>
      </p:sp>
      <p:sp>
        <p:nvSpPr>
          <p:cNvPr id="15180262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542703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266228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Analyst scopes differ (software vs services). Present as ranges and direction, not precise sizing.</a:t>
            </a:r>
            <a:endParaRPr lang="en-US"/>
          </a:p>
        </p:txBody>
      </p:sp>
      <p:sp>
        <p:nvSpPr>
          <p:cNvPr id="114910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103462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553744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These are the localization hooks to lead every conversation with. Global vendors fumble them; offshore vendors don't know them.</a:t>
            </a:r>
            <a:endParaRPr lang="en-US"/>
          </a:p>
        </p:txBody>
      </p:sp>
      <p:sp>
        <p:nvSpPr>
          <p:cNvPr id="2580922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5627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374379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Real estate isn't on the Ashapura website but is arguably the #1 CRM vertical in the GCC. Lead with my existing logos: Memar (real estate) and Saudi East (automotive).</a:t>
            </a:r>
            <a:endParaRPr lang="en-US"/>
          </a:p>
        </p:txBody>
      </p:sp>
      <p:sp>
        <p:nvSpPr>
          <p:cNvPr id="14526396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26654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6794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93185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91633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229800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Our real fight is with the regional specialists and the Indian offshore peers, not with Accenture.</a:t>
            </a:r>
            <a:endParaRPr lang="en-US"/>
          </a:p>
        </p:txBody>
      </p:sp>
      <p:sp>
        <p:nvSpPr>
          <p:cNvPr id="13725898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491485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884315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Tiers and figures are mostly self-reported. Verify each in the Salesforce partner directory before the meeting; tiers change yearly.</a:t>
            </a:r>
            <a:endParaRPr lang="en-US"/>
          </a:p>
        </p:txBody>
      </p:sp>
      <p:sp>
        <p:nvSpPr>
          <p:cNvPr id="12823767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77296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255507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Netsmartz is the closest mirror of Ashapura: Indian delivery, Dubai entity via the AmyTech DMCC acquisition, heavy GCC real-estate marketing, multi-platform.</a:t>
            </a:r>
            <a:endParaRPr lang="en-US"/>
          </a:p>
        </p:txBody>
      </p:sp>
      <p:sp>
        <p:nvSpPr>
          <p:cNvPr id="2047303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807638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48496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One visual that sells the positioning. Nobody credibly owns the top-left quadrant today.</a:t>
            </a:r>
            <a:endParaRPr lang="en-US"/>
          </a:p>
        </p:txBody>
      </p:sp>
      <p:sp>
        <p:nvSpPr>
          <p:cNvPr id="14085610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77043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256118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Name five primary competitors in the meeting: Smaartt, Cloudzlab, Arcsen, Cloud Concept, Netsmartz.</a:t>
            </a:r>
            <a:endParaRPr lang="en-US"/>
          </a:p>
        </p:txBody>
      </p:sp>
      <p:sp>
        <p:nvSpPr>
          <p:cNvPr id="11812687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311868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189274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652466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84382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700299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This is the one sentence every salesperson, partner and Salesforce AE should be able to repeat.</a:t>
            </a:r>
            <a:endParaRPr lang="en-US"/>
          </a:p>
        </p:txBody>
      </p:sp>
      <p:sp>
        <p:nvSpPr>
          <p:cNvPr id="17770403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84099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784820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Signals tell us when to reach out. A company hiring a Salesforce admin is a live opportunity this quarter.</a:t>
            </a:r>
            <a:endParaRPr lang="en-US"/>
          </a:p>
        </p:txBody>
      </p:sp>
      <p:sp>
        <p:nvSpPr>
          <p:cNvPr id="15338233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326296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903811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Most new entrants ignore Salesforce co-sell. It is the #1 deal source for implementation partners and my first 30 days.</a:t>
            </a:r>
            <a:endParaRPr lang="en-US"/>
          </a:p>
        </p:txBody>
      </p:sp>
      <p:sp>
        <p:nvSpPr>
          <p:cNvPr id="9011368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295165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57581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A market that doesn't know us yet buys packaged, low-risk offers first. The Health Check is the best door-opener at existing Salesforce customers.</a:t>
            </a:r>
            <a:endParaRPr lang="en-US"/>
          </a:p>
        </p:txBody>
      </p:sp>
      <p:sp>
        <p:nvSpPr>
          <p:cNvPr id="11781433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19</a:t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566756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816564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Illustrative funnel; calibrate with Ashapura's actual deal sizes and win rates.</a:t>
            </a:r>
            <a:endParaRPr lang="en-US"/>
          </a:p>
        </p:txBody>
      </p:sp>
      <p:sp>
        <p:nvSpPr>
          <p:cNvPr id="12595953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20</a:t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390898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871363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307516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21</a:t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189059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69307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KSA at scale needs a MISA licence or local partner; government work increasingly favors firms with a Saudi RHQ.</a:t>
            </a:r>
            <a:endParaRPr lang="en-US"/>
          </a:p>
        </p:txBody>
      </p:sp>
      <p:sp>
        <p:nvSpPr>
          <p:cNvPr id="14157262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22</a:t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510701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810296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Shows operator thinking: what I need from leadership, how we measure progress, and what could go wrong.</a:t>
            </a:r>
            <a:endParaRPr lang="en-US"/>
          </a:p>
        </p:txBody>
      </p:sp>
      <p:sp>
        <p:nvSpPr>
          <p:cNvPr id="4412689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23</a:t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57436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399072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898170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24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COVER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50889181" name="Image 0" descr="/tmp/claude-0/-home-user-Outbound-leads-/9145f664-c220-51ee-8c06-d6606c027aa9/scratchpad/logo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0451592" y="246888"/>
            <a:ext cx="1197864" cy="1197864"/>
          </a:xfrm>
          <a:prstGeom prst="rect">
            <a:avLst/>
          </a:prstGeom>
        </p:spPr>
      </p:pic>
      <p:sp>
        <p:nvSpPr>
          <p:cNvPr id="899806847" name="Text 0"/>
          <p:cNvSpPr/>
          <p:nvPr>
            <p:ph type="title" idx="101" hasCustomPrompt="1"/>
          </p:nvPr>
        </p:nvSpPr>
        <p:spPr bwMode="auto">
          <a:xfrm>
            <a:off x="731520" y="1828800"/>
            <a:ext cx="960120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400" b="1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  <a:defRPr/>
            </a:pPr>
            <a:endParaRPr lang="en-US" sz="4400"/>
          </a:p>
        </p:txBody>
      </p:sp>
      <p:sp>
        <p:nvSpPr>
          <p:cNvPr id="228949751" name="Text 0"/>
          <p:cNvSpPr/>
          <p:nvPr>
            <p:ph type="body" idx="102" hasCustomPrompt="1"/>
          </p:nvPr>
        </p:nvSpPr>
        <p:spPr bwMode="auto">
          <a:xfrm>
            <a:off x="731520" y="3749040"/>
            <a:ext cx="96012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000">
                <a:solidFill>
                  <a:schemeClr val="accent6"/>
                </a:solidFill>
              </a:defRPr>
            </a:lvl1pPr>
          </a:lstStyle>
          <a:p>
            <a:pPr marL="0" indent="0" algn="l">
              <a:buNone/>
              <a:defRPr/>
            </a:pPr>
            <a:endParaRPr lang="en-US" sz="200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ECTION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33191631" name="Image 0" descr="/tmp/claude-0/-home-user-Outbound-leads-/9145f664-c220-51ee-8c06-d6606c027aa9/scratchpad/logo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0451592" y="246888"/>
            <a:ext cx="1197864" cy="1197864"/>
          </a:xfrm>
          <a:prstGeom prst="rect">
            <a:avLst/>
          </a:prstGeom>
        </p:spPr>
      </p:pic>
      <p:sp>
        <p:nvSpPr>
          <p:cNvPr id="606406111" name="Text 0"/>
          <p:cNvSpPr/>
          <p:nvPr>
            <p:ph type="title" idx="101" hasCustomPrompt="1"/>
          </p:nvPr>
        </p:nvSpPr>
        <p:spPr bwMode="auto">
          <a:xfrm>
            <a:off x="731520" y="274320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  <a:defRPr/>
            </a:pPr>
            <a:endParaRPr lang="en-US" sz="4000"/>
          </a:p>
        </p:txBody>
      </p:sp>
      <p:sp>
        <p:nvSpPr>
          <p:cNvPr id="1283971027" name="Text 0"/>
          <p:cNvSpPr/>
          <p:nvPr>
            <p:ph type="body" idx="102" hasCustomPrompt="1"/>
          </p:nvPr>
        </p:nvSpPr>
        <p:spPr bwMode="auto">
          <a:xfrm>
            <a:off x="731520" y="3840480"/>
            <a:ext cx="10515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000">
                <a:solidFill>
                  <a:schemeClr val="accent2"/>
                </a:solidFill>
              </a:defRPr>
            </a:lvl1pPr>
          </a:lstStyle>
          <a:p>
            <a:pPr marL="0" indent="0" algn="l">
              <a:buNone/>
              <a:defRPr/>
            </a:pPr>
            <a:endParaRPr lang="en-US" sz="2000"/>
          </a:p>
        </p:txBody>
      </p:sp>
      <p:sp>
        <p:nvSpPr>
          <p:cNvPr id="353784114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247120" y="635508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CONTENT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85855170" name="Image 0" descr="/tmp/claude-0/-home-user-Outbound-leads-/9145f664-c220-51ee-8c06-d6606c027aa9/scratchpad/logo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1036808" y="246888"/>
            <a:ext cx="612648" cy="612648"/>
          </a:xfrm>
          <a:prstGeom prst="rect">
            <a:avLst/>
          </a:prstGeom>
        </p:spPr>
      </p:pic>
      <p:sp>
        <p:nvSpPr>
          <p:cNvPr id="1455182140" name="Text 0"/>
          <p:cNvSpPr/>
          <p:nvPr>
            <p:ph type="title" idx="101" hasCustomPrompt="1"/>
          </p:nvPr>
        </p:nvSpPr>
        <p:spPr bwMode="auto">
          <a:xfrm>
            <a:off x="548640" y="320040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>
                <a:solidFill>
                  <a:schemeClr val="accent1"/>
                </a:solidFill>
              </a:defRPr>
            </a:lvl1pPr>
          </a:lstStyle>
          <a:p>
            <a:pPr marL="0" indent="0" algn="l">
              <a:buNone/>
              <a:defRPr/>
            </a:pPr>
            <a:endParaRPr lang="en-US" sz="3000"/>
          </a:p>
        </p:txBody>
      </p:sp>
      <p:sp>
        <p:nvSpPr>
          <p:cNvPr id="1353012198" name="Text 0"/>
          <p:cNvSpPr/>
          <p:nvPr/>
        </p:nvSpPr>
        <p:spPr bwMode="auto"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chemeClr val="accent5"/>
                </a:solidFill>
              </a:rPr>
              <a:t>Ashapura Softech  |  GCC Go-to-Market</a:t>
            </a:r>
            <a:endParaRPr lang="en-US" sz="1000"/>
          </a:p>
        </p:txBody>
      </p:sp>
      <p:sp>
        <p:nvSpPr>
          <p:cNvPr id="960707731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247120" y="635508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3160731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247120" y="635508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 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1856519" name="Text 0"/>
          <p:cNvSpPr/>
          <p:nvPr>
            <p:ph type="title" idx="101" hasCustomPrompt="1"/>
          </p:nvPr>
        </p:nvSpPr>
        <p:spPr bwMode="auto">
          <a:xfrm>
            <a:off x="731520" y="1828800"/>
            <a:ext cx="9601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  <a:defRPr/>
            </a:pPr>
            <a:r>
              <a:rPr lang="en-US" sz="4400" b="1">
                <a:solidFill>
                  <a:schemeClr val="bg1"/>
                </a:solidFill>
              </a:rPr>
              <a:t>Winning the GCC</a:t>
            </a:r>
            <a:endParaRPr lang="en-US" sz="4400"/>
          </a:p>
        </p:txBody>
      </p:sp>
      <p:sp>
        <p:nvSpPr>
          <p:cNvPr id="1043921565" name="Text 0"/>
          <p:cNvSpPr/>
          <p:nvPr>
            <p:ph type="body" idx="102" hasCustomPrompt="1"/>
          </p:nvPr>
        </p:nvSpPr>
        <p:spPr bwMode="auto">
          <a:xfrm>
            <a:off x="731520" y="3749040"/>
            <a:ext cx="9601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/>
            </a:pPr>
            <a:r>
              <a:rPr lang="en-US" sz="2000">
                <a:solidFill>
                  <a:schemeClr val="accent6"/>
                </a:solidFill>
              </a:rPr>
              <a:t>GTM strategy for Ashapura Softech in KSA &amp; UAE</a:t>
            </a:r>
            <a:endParaRPr lang="en-US" sz="2000"/>
          </a:p>
          <a:p>
            <a:pPr marL="0" indent="0" algn="l">
              <a:buNone/>
              <a:defRPr/>
            </a:pPr>
            <a:r>
              <a:rPr lang="en-US" sz="1600">
                <a:solidFill>
                  <a:schemeClr val="accent2"/>
                </a:solidFill>
              </a:rPr>
              <a:t>Business Development Manager – GCC  |  Market insights &amp; penetration plan</a:t>
            </a:r>
            <a:endParaRPr lang="en-US" sz="2000"/>
          </a:p>
        </p:txBody>
      </p:sp>
      <p:sp>
        <p:nvSpPr>
          <p:cNvPr id="602744231" name="Text 2"/>
          <p:cNvSpPr txBox="1"/>
          <p:nvPr/>
        </p:nvSpPr>
        <p:spPr bwMode="auto">
          <a:xfrm>
            <a:off x="731520" y="548640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000" b="1">
                <a:solidFill>
                  <a:schemeClr val="bg1"/>
                </a:solidFill>
              </a:rPr>
              <a:t>Bassem Gamal</a:t>
            </a:r>
            <a:endParaRPr lang="en-US" sz="1400"/>
          </a:p>
          <a:p>
            <a:pPr marL="0" indent="0">
              <a:buNone/>
              <a:defRPr/>
            </a:pPr>
            <a:r>
              <a:rPr lang="en-US" sz="1400">
                <a:solidFill>
                  <a:schemeClr val="accent2"/>
                </a:solidFill>
              </a:rPr>
              <a:t>Sales &amp; Business Development, GCC</a:t>
            </a:r>
            <a:endParaRPr lang="en-US"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6841044" name="Text 0"/>
          <p:cNvSpPr/>
          <p:nvPr>
            <p:ph type="title" idx="101" hasCustomPrompt="1"/>
          </p:nvPr>
        </p:nvSpPr>
        <p:spPr bwMode="auto">
          <a:xfrm>
            <a:off x="548640" y="32004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000" b="1">
                <a:solidFill>
                  <a:schemeClr val="accent1"/>
                </a:solidFill>
              </a:rPr>
              <a:t>Executive summary</a:t>
            </a:r>
            <a:endParaRPr lang="en-US" sz="3000"/>
          </a:p>
        </p:txBody>
      </p:sp>
      <p:sp>
        <p:nvSpPr>
          <p:cNvPr id="1594424492" name="Shape 1"/>
          <p:cNvSpPr/>
          <p:nvPr/>
        </p:nvSpPr>
        <p:spPr bwMode="auto">
          <a:xfrm>
            <a:off x="548640" y="1325880"/>
            <a:ext cx="544068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99428963" name="Shape 2"/>
          <p:cNvSpPr/>
          <p:nvPr/>
        </p:nvSpPr>
        <p:spPr bwMode="auto">
          <a:xfrm>
            <a:off x="822960" y="16002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3792077" name="Text 3"/>
          <p:cNvSpPr txBox="1"/>
          <p:nvPr/>
        </p:nvSpPr>
        <p:spPr bwMode="auto">
          <a:xfrm>
            <a:off x="82296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accent1"/>
                </a:solidFill>
              </a:rPr>
              <a:t>1</a:t>
            </a:r>
            <a:endParaRPr lang="en-US" sz="1400"/>
          </a:p>
        </p:txBody>
      </p:sp>
      <p:sp>
        <p:nvSpPr>
          <p:cNvPr id="519820535" name="Text 4"/>
          <p:cNvSpPr txBox="1"/>
          <p:nvPr/>
        </p:nvSpPr>
        <p:spPr bwMode="auto">
          <a:xfrm>
            <a:off x="1463040" y="161848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000" b="1">
                <a:solidFill>
                  <a:schemeClr val="accent1"/>
                </a:solidFill>
                <a:latin typeface="Cambria"/>
                <a:ea typeface="Cambria"/>
                <a:cs typeface="Cambria"/>
              </a:rPr>
              <a:t>Approaching GCC</a:t>
            </a:r>
            <a:endParaRPr lang="en-US" sz="2000"/>
          </a:p>
        </p:txBody>
      </p:sp>
      <p:sp>
        <p:nvSpPr>
          <p:cNvPr id="173019186" name="Text 5"/>
          <p:cNvSpPr txBox="1"/>
          <p:nvPr/>
        </p:nvSpPr>
        <p:spPr bwMode="auto">
          <a:xfrm>
            <a:off x="1463040" y="2148840"/>
            <a:ext cx="4251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700">
                <a:solidFill>
                  <a:schemeClr val="tx1"/>
                </a:solidFill>
              </a:rPr>
              <a:t>Salesforce is investing heavily in KSA ($500M, Riyadh HQ, local Hyperforce). Demand is outpacing local partner capacity.</a:t>
            </a:r>
            <a:endParaRPr lang="en-US" sz="1700"/>
          </a:p>
        </p:txBody>
      </p:sp>
      <p:sp>
        <p:nvSpPr>
          <p:cNvPr id="1366112858" name="Shape 6"/>
          <p:cNvSpPr/>
          <p:nvPr/>
        </p:nvSpPr>
        <p:spPr bwMode="auto">
          <a:xfrm>
            <a:off x="6172200" y="1325880"/>
            <a:ext cx="544068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81371427" name="Shape 7"/>
          <p:cNvSpPr/>
          <p:nvPr/>
        </p:nvSpPr>
        <p:spPr bwMode="auto">
          <a:xfrm>
            <a:off x="6446520" y="16002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54385337" name="Text 8"/>
          <p:cNvSpPr txBox="1"/>
          <p:nvPr/>
        </p:nvSpPr>
        <p:spPr bwMode="auto">
          <a:xfrm>
            <a:off x="644652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accent1"/>
                </a:solidFill>
              </a:rPr>
              <a:t>2</a:t>
            </a:r>
            <a:endParaRPr lang="en-US" sz="1400"/>
          </a:p>
        </p:txBody>
      </p:sp>
      <p:sp>
        <p:nvSpPr>
          <p:cNvPr id="1463895576" name="Text 9"/>
          <p:cNvSpPr txBox="1"/>
          <p:nvPr/>
        </p:nvSpPr>
        <p:spPr bwMode="auto">
          <a:xfrm>
            <a:off x="7086600" y="161848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000" b="1">
                <a:solidFill>
                  <a:schemeClr val="accent1"/>
                </a:solidFill>
                <a:latin typeface="Cambria"/>
                <a:ea typeface="Cambria"/>
                <a:cs typeface="Cambria"/>
              </a:rPr>
              <a:t>Where to play</a:t>
            </a:r>
            <a:endParaRPr lang="en-US" sz="2000"/>
          </a:p>
        </p:txBody>
      </p:sp>
      <p:sp>
        <p:nvSpPr>
          <p:cNvPr id="1100352511" name="Text 10"/>
          <p:cNvSpPr txBox="1"/>
          <p:nvPr/>
        </p:nvSpPr>
        <p:spPr bwMode="auto">
          <a:xfrm>
            <a:off x="7086600" y="2148840"/>
            <a:ext cx="4251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700">
                <a:solidFill>
                  <a:schemeClr val="tx1"/>
                </a:solidFill>
              </a:rPr>
              <a:t>GCC mid-market, 100–2,000 employees: real estate, automotive, BFSI, healthcare, retail &amp; trading, logistics.</a:t>
            </a:r>
            <a:endParaRPr lang="en-US" sz="1700"/>
          </a:p>
        </p:txBody>
      </p:sp>
      <p:sp>
        <p:nvSpPr>
          <p:cNvPr id="759285163" name="Shape 11"/>
          <p:cNvSpPr/>
          <p:nvPr/>
        </p:nvSpPr>
        <p:spPr bwMode="auto">
          <a:xfrm>
            <a:off x="548640" y="3794760"/>
            <a:ext cx="544068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65540704" name="Shape 12"/>
          <p:cNvSpPr/>
          <p:nvPr/>
        </p:nvSpPr>
        <p:spPr bwMode="auto">
          <a:xfrm>
            <a:off x="822960" y="40690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19223891" name="Text 13"/>
          <p:cNvSpPr txBox="1"/>
          <p:nvPr/>
        </p:nvSpPr>
        <p:spPr bwMode="auto">
          <a:xfrm>
            <a:off x="82296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accent1"/>
                </a:solidFill>
              </a:rPr>
              <a:t>3</a:t>
            </a:r>
            <a:endParaRPr lang="en-US" sz="1400"/>
          </a:p>
        </p:txBody>
      </p:sp>
      <p:sp>
        <p:nvSpPr>
          <p:cNvPr id="50602979" name="Text 14"/>
          <p:cNvSpPr txBox="1"/>
          <p:nvPr/>
        </p:nvSpPr>
        <p:spPr bwMode="auto">
          <a:xfrm>
            <a:off x="1463040" y="408736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000" b="1">
                <a:solidFill>
                  <a:schemeClr val="accent1"/>
                </a:solidFill>
                <a:latin typeface="Cambria"/>
                <a:ea typeface="Cambria"/>
                <a:cs typeface="Cambria"/>
              </a:rPr>
              <a:t>How to win</a:t>
            </a:r>
            <a:endParaRPr lang="en-US" sz="2000"/>
          </a:p>
        </p:txBody>
      </p:sp>
      <p:sp>
        <p:nvSpPr>
          <p:cNvPr id="870817217" name="Text 15"/>
          <p:cNvSpPr txBox="1"/>
          <p:nvPr/>
        </p:nvSpPr>
        <p:spPr bwMode="auto">
          <a:xfrm>
            <a:off x="1463040" y="4617720"/>
            <a:ext cx="4251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700">
                <a:solidFill>
                  <a:schemeClr val="tx1"/>
                </a:solidFill>
              </a:rPr>
              <a:t>Local front + offshore engine. Multi-platform credibility at 30–50% below local specialists.</a:t>
            </a:r>
            <a:endParaRPr lang="en-US" sz="1700"/>
          </a:p>
        </p:txBody>
      </p:sp>
      <p:sp>
        <p:nvSpPr>
          <p:cNvPr id="101204805" name="Shape 16"/>
          <p:cNvSpPr/>
          <p:nvPr/>
        </p:nvSpPr>
        <p:spPr bwMode="auto">
          <a:xfrm>
            <a:off x="6172200" y="3794760"/>
            <a:ext cx="544068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3409222" name="Shape 17"/>
          <p:cNvSpPr/>
          <p:nvPr/>
        </p:nvSpPr>
        <p:spPr bwMode="auto">
          <a:xfrm>
            <a:off x="6446520" y="40690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28542682" name="Text 18"/>
          <p:cNvSpPr txBox="1"/>
          <p:nvPr/>
        </p:nvSpPr>
        <p:spPr bwMode="auto">
          <a:xfrm>
            <a:off x="644652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accent1"/>
                </a:solidFill>
              </a:rPr>
              <a:t>4</a:t>
            </a:r>
            <a:endParaRPr lang="en-US" sz="1400"/>
          </a:p>
        </p:txBody>
      </p:sp>
      <p:sp>
        <p:nvSpPr>
          <p:cNvPr id="1418790125" name="Text 19"/>
          <p:cNvSpPr txBox="1"/>
          <p:nvPr/>
        </p:nvSpPr>
        <p:spPr bwMode="auto">
          <a:xfrm>
            <a:off x="7086600" y="408736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000" b="1">
                <a:solidFill>
                  <a:schemeClr val="accent1"/>
                </a:solidFill>
                <a:latin typeface="Cambria"/>
                <a:ea typeface="Cambria"/>
                <a:cs typeface="Cambria"/>
              </a:rPr>
              <a:t>How to start</a:t>
            </a:r>
            <a:endParaRPr lang="en-US" sz="2000"/>
          </a:p>
        </p:txBody>
      </p:sp>
      <p:sp>
        <p:nvSpPr>
          <p:cNvPr id="1026895536" name="Text 20"/>
          <p:cNvSpPr txBox="1"/>
          <p:nvPr/>
        </p:nvSpPr>
        <p:spPr bwMode="auto">
          <a:xfrm>
            <a:off x="7086600" y="4617720"/>
            <a:ext cx="4251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700">
                <a:solidFill>
                  <a:schemeClr val="tx1"/>
                </a:solidFill>
              </a:rPr>
              <a:t>Salesforce co-sell first, then network, outbound engine, events. UAE quick wins, KSA as the revenue engine.</a:t>
            </a:r>
            <a:endParaRPr lang="en-US" sz="1700"/>
          </a:p>
        </p:txBody>
      </p:sp>
      <p:sp>
        <p:nvSpPr>
          <p:cNvPr id="1408099441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247120" y="635508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999566" name="Text 0"/>
          <p:cNvSpPr/>
          <p:nvPr>
            <p:ph type="title" idx="101" hasCustomPrompt="1"/>
          </p:nvPr>
        </p:nvSpPr>
        <p:spPr bwMode="auto">
          <a:xfrm>
            <a:off x="548640" y="32004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000" b="1">
                <a:solidFill>
                  <a:schemeClr val="accent1"/>
                </a:solidFill>
              </a:rPr>
              <a:t>Why me: the right first hire for a new region</a:t>
            </a:r>
            <a:endParaRPr lang="en-US" sz="3000"/>
          </a:p>
        </p:txBody>
      </p:sp>
      <p:sp>
        <p:nvSpPr>
          <p:cNvPr id="1572802698" name="Shape 1"/>
          <p:cNvSpPr/>
          <p:nvPr/>
        </p:nvSpPr>
        <p:spPr bwMode="auto">
          <a:xfrm>
            <a:off x="548640" y="1325880"/>
            <a:ext cx="53949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84599449" name="Text 2"/>
          <p:cNvSpPr txBox="1"/>
          <p:nvPr/>
        </p:nvSpPr>
        <p:spPr bwMode="auto">
          <a:xfrm>
            <a:off x="777240" y="143560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chemeClr val="accent2"/>
                </a:solidFill>
                <a:latin typeface="Cambria"/>
                <a:ea typeface="Cambria"/>
                <a:cs typeface="Cambria"/>
              </a:rPr>
              <a:t>12 yrs</a:t>
            </a:r>
            <a:endParaRPr lang="en-US" sz="3000"/>
          </a:p>
        </p:txBody>
      </p:sp>
      <p:sp>
        <p:nvSpPr>
          <p:cNvPr id="1056223898" name="Text 3"/>
          <p:cNvSpPr txBox="1"/>
          <p:nvPr/>
        </p:nvSpPr>
        <p:spPr bwMode="auto">
          <a:xfrm>
            <a:off x="2514600" y="1435608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>
                <a:solidFill>
                  <a:schemeClr val="tx1"/>
                </a:solidFill>
              </a:rPr>
              <a:t>B2B Sales and Business Development, dealing everyday with C-Level Suite</a:t>
            </a:r>
            <a:endParaRPr lang="en-US" sz="1600"/>
          </a:p>
        </p:txBody>
      </p:sp>
      <p:sp>
        <p:nvSpPr>
          <p:cNvPr id="1795623413" name="Shape 4"/>
          <p:cNvSpPr/>
          <p:nvPr/>
        </p:nvSpPr>
        <p:spPr bwMode="auto">
          <a:xfrm>
            <a:off x="548640" y="2514600"/>
            <a:ext cx="53949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23704846" name="Text 5"/>
          <p:cNvSpPr txBox="1"/>
          <p:nvPr/>
        </p:nvSpPr>
        <p:spPr bwMode="auto">
          <a:xfrm>
            <a:off x="777240" y="262432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chemeClr val="accent2"/>
                </a:solidFill>
                <a:latin typeface="Cambria"/>
                <a:ea typeface="Cambria"/>
                <a:cs typeface="Cambria"/>
              </a:rPr>
              <a:t>5 yrs</a:t>
            </a:r>
            <a:endParaRPr lang="en-US" sz="3000"/>
          </a:p>
        </p:txBody>
      </p:sp>
      <p:sp>
        <p:nvSpPr>
          <p:cNvPr id="824105723" name="Text 6"/>
          <p:cNvSpPr txBox="1"/>
          <p:nvPr/>
        </p:nvSpPr>
        <p:spPr bwMode="auto">
          <a:xfrm>
            <a:off x="2514600" y="2624328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>
                <a:solidFill>
                  <a:schemeClr val="tx1"/>
                </a:solidFill>
              </a:rPr>
              <a:t>Technology Business: Salesforce and Odoo / ERP </a:t>
            </a:r>
            <a:endParaRPr lang="en-US" sz="1600"/>
          </a:p>
        </p:txBody>
      </p:sp>
      <p:sp>
        <p:nvSpPr>
          <p:cNvPr id="2034115886" name="Shape 7"/>
          <p:cNvSpPr/>
          <p:nvPr/>
        </p:nvSpPr>
        <p:spPr bwMode="auto">
          <a:xfrm>
            <a:off x="548640" y="3703320"/>
            <a:ext cx="53949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03828771" name="Text 8"/>
          <p:cNvSpPr txBox="1"/>
          <p:nvPr/>
        </p:nvSpPr>
        <p:spPr bwMode="auto">
          <a:xfrm>
            <a:off x="777240" y="381304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chemeClr val="accent2"/>
                </a:solidFill>
                <a:latin typeface="Cambria"/>
                <a:ea typeface="Cambria"/>
                <a:cs typeface="Cambria"/>
              </a:rPr>
              <a:t>Dubai</a:t>
            </a:r>
            <a:endParaRPr lang="en-US" sz="3000"/>
          </a:p>
        </p:txBody>
      </p:sp>
      <p:sp>
        <p:nvSpPr>
          <p:cNvPr id="216793471" name="Text 9"/>
          <p:cNvSpPr txBox="1"/>
          <p:nvPr/>
        </p:nvSpPr>
        <p:spPr bwMode="auto">
          <a:xfrm>
            <a:off x="2514600" y="3813048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>
                <a:solidFill>
                  <a:schemeClr val="tx1"/>
                </a:solidFill>
              </a:rPr>
              <a:t>Based in the UAE with Emirates ID, and driving License; ready to start</a:t>
            </a:r>
            <a:endParaRPr lang="en-US" sz="1600"/>
          </a:p>
        </p:txBody>
      </p:sp>
      <p:sp>
        <p:nvSpPr>
          <p:cNvPr id="1327275090" name="Shape 10"/>
          <p:cNvSpPr/>
          <p:nvPr/>
        </p:nvSpPr>
        <p:spPr bwMode="auto">
          <a:xfrm>
            <a:off x="548640" y="4892039"/>
            <a:ext cx="53949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46508090" name="Text 11"/>
          <p:cNvSpPr txBox="1"/>
          <p:nvPr/>
        </p:nvSpPr>
        <p:spPr bwMode="auto">
          <a:xfrm>
            <a:off x="777240" y="500176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chemeClr val="accent2"/>
                </a:solidFill>
                <a:latin typeface="Cambria"/>
                <a:ea typeface="Cambria"/>
                <a:cs typeface="Cambria"/>
              </a:rPr>
              <a:t>KSA</a:t>
            </a:r>
            <a:endParaRPr lang="en-US" sz="3000"/>
          </a:p>
        </p:txBody>
      </p:sp>
      <p:sp>
        <p:nvSpPr>
          <p:cNvPr id="336219384" name="Text 12"/>
          <p:cNvSpPr txBox="1"/>
          <p:nvPr/>
        </p:nvSpPr>
        <p:spPr bwMode="auto">
          <a:xfrm>
            <a:off x="2514600" y="5001768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>
                <a:solidFill>
                  <a:schemeClr val="tx1"/>
                </a:solidFill>
              </a:rPr>
              <a:t>Active decision-maker network, and on-hands experience</a:t>
            </a:r>
            <a:endParaRPr lang="en-US" sz="1600"/>
          </a:p>
        </p:txBody>
      </p:sp>
      <p:sp>
        <p:nvSpPr>
          <p:cNvPr id="1582369002" name="Shape 13"/>
          <p:cNvSpPr/>
          <p:nvPr/>
        </p:nvSpPr>
        <p:spPr bwMode="auto">
          <a:xfrm>
            <a:off x="6217920" y="1325880"/>
            <a:ext cx="5394960" cy="2148840"/>
          </a:xfrm>
          <a:prstGeom prst="roundRect">
            <a:avLst>
              <a:gd name="adj" fmla="val 3404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65475779" name="Text 14"/>
          <p:cNvSpPr txBox="1"/>
          <p:nvPr/>
        </p:nvSpPr>
        <p:spPr bwMode="auto">
          <a:xfrm>
            <a:off x="6492240" y="1508759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800" b="1">
                <a:solidFill>
                  <a:schemeClr val="accent2"/>
                </a:solidFill>
              </a:rPr>
              <a:t>Some of the Logos I have closed with Salesforce</a:t>
            </a:r>
            <a:endParaRPr lang="en-US" sz="1800"/>
          </a:p>
        </p:txBody>
      </p:sp>
      <p:sp>
        <p:nvSpPr>
          <p:cNvPr id="221698557" name="Shape 15"/>
          <p:cNvSpPr/>
          <p:nvPr/>
        </p:nvSpPr>
        <p:spPr bwMode="auto">
          <a:xfrm>
            <a:off x="6492240" y="2194560"/>
            <a:ext cx="1463040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22928625" name="Text 16"/>
          <p:cNvSpPr txBox="1"/>
          <p:nvPr/>
        </p:nvSpPr>
        <p:spPr bwMode="auto">
          <a:xfrm>
            <a:off x="6492240" y="219456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endParaRPr lang="en-US" sz="1600"/>
          </a:p>
        </p:txBody>
      </p:sp>
      <p:sp>
        <p:nvSpPr>
          <p:cNvPr id="754933204" name="Shape 17"/>
          <p:cNvSpPr/>
          <p:nvPr/>
        </p:nvSpPr>
        <p:spPr bwMode="auto">
          <a:xfrm>
            <a:off x="8138160" y="2194560"/>
            <a:ext cx="1463040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747377565" name="Text 18"/>
          <p:cNvSpPr txBox="1"/>
          <p:nvPr/>
        </p:nvSpPr>
        <p:spPr bwMode="auto">
          <a:xfrm>
            <a:off x="8138160" y="219456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endParaRPr lang="en-US" sz="1600"/>
          </a:p>
        </p:txBody>
      </p:sp>
      <p:sp>
        <p:nvSpPr>
          <p:cNvPr id="994682488" name="Shape 19"/>
          <p:cNvSpPr/>
          <p:nvPr/>
        </p:nvSpPr>
        <p:spPr bwMode="auto">
          <a:xfrm>
            <a:off x="9784079" y="2194560"/>
            <a:ext cx="1463040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285552184" name="Text 20"/>
          <p:cNvSpPr txBox="1"/>
          <p:nvPr/>
        </p:nvSpPr>
        <p:spPr bwMode="auto">
          <a:xfrm>
            <a:off x="9784079" y="219456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endParaRPr lang="en-US" sz="1600"/>
          </a:p>
        </p:txBody>
      </p:sp>
      <p:sp>
        <p:nvSpPr>
          <p:cNvPr id="2045824683" name="Text 21"/>
          <p:cNvSpPr txBox="1"/>
          <p:nvPr/>
        </p:nvSpPr>
        <p:spPr bwMode="auto">
          <a:xfrm>
            <a:off x="6492240" y="31089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chemeClr val="accent6"/>
                </a:solidFill>
              </a:rPr>
              <a:t>  Steel Manufacturing                    Automotive                            Real Estate</a:t>
            </a:r>
            <a:endParaRPr lang="en-US" sz="1200"/>
          </a:p>
        </p:txBody>
      </p:sp>
      <p:sp>
        <p:nvSpPr>
          <p:cNvPr id="755620082" name="Shape 22"/>
          <p:cNvSpPr/>
          <p:nvPr/>
        </p:nvSpPr>
        <p:spPr bwMode="auto">
          <a:xfrm>
            <a:off x="6217920" y="3703320"/>
            <a:ext cx="539496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42218273" name="Text 23"/>
          <p:cNvSpPr txBox="1"/>
          <p:nvPr/>
        </p:nvSpPr>
        <p:spPr bwMode="auto">
          <a:xfrm>
            <a:off x="6492240" y="3886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800" b="1">
                <a:solidFill>
                  <a:schemeClr val="accent1"/>
                </a:solidFill>
              </a:rPr>
              <a:t>What I bring on day one</a:t>
            </a:r>
            <a:endParaRPr lang="en-US" sz="1800"/>
          </a:p>
        </p:txBody>
      </p:sp>
      <p:sp>
        <p:nvSpPr>
          <p:cNvPr id="1689675158" name="Text 24"/>
          <p:cNvSpPr txBox="1"/>
          <p:nvPr/>
        </p:nvSpPr>
        <p:spPr bwMode="auto">
          <a:xfrm>
            <a:off x="6492240" y="4389120"/>
            <a:ext cx="4892039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500">
                <a:solidFill>
                  <a:schemeClr val="tx1"/>
                </a:solidFill>
              </a:rPr>
              <a:t>Salesforce and Odoo selling experience: credible across the multi-platform offer</a:t>
            </a:r>
            <a:endParaRPr lang="en-US" sz="15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500">
                <a:solidFill>
                  <a:schemeClr val="tx1"/>
                </a:solidFill>
              </a:rPr>
              <a:t>Full-cycle hunter: prospecting to close, independently</a:t>
            </a:r>
            <a:endParaRPr lang="en-US" sz="15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500">
                <a:solidFill>
                  <a:schemeClr val="tx1"/>
                </a:solidFill>
              </a:rPr>
              <a:t>Cross-vertical exposure in all six priority verticals</a:t>
            </a:r>
            <a:endParaRPr lang="en-US" sz="1500"/>
          </a:p>
        </p:txBody>
      </p:sp>
      <p:sp>
        <p:nvSpPr>
          <p:cNvPr id="820159721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247120" y="635508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3</a:t>
            </a:fld>
            <a:endParaRPr lang="en-US"/>
          </a:p>
        </p:txBody>
      </p:sp>
      <p:pic>
        <p:nvPicPr>
          <p:cNvPr id="69321679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9909809" y="2179823"/>
            <a:ext cx="1211580" cy="852432"/>
          </a:xfrm>
          <a:prstGeom prst="rect">
            <a:avLst/>
          </a:prstGeom>
        </p:spPr>
      </p:pic>
      <p:pic>
        <p:nvPicPr>
          <p:cNvPr id="1452360531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8197859" y="2179823"/>
            <a:ext cx="1317488" cy="860556"/>
          </a:xfrm>
          <a:prstGeom prst="rect">
            <a:avLst/>
          </a:prstGeom>
        </p:spPr>
      </p:pic>
      <p:pic>
        <p:nvPicPr>
          <p:cNvPr id="2021392722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6791245" y="2272549"/>
            <a:ext cx="865028" cy="70355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3099816" name="Text 0"/>
          <p:cNvSpPr/>
          <p:nvPr>
            <p:ph type="title" idx="101" hasCustomPrompt="1"/>
          </p:nvPr>
        </p:nvSpPr>
        <p:spPr bwMode="auto">
          <a:xfrm>
            <a:off x="731520" y="27432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4000" b="1">
                <a:solidFill>
                  <a:schemeClr val="bg1"/>
                </a:solidFill>
              </a:rPr>
              <a:t>The market opportunity</a:t>
            </a:r>
            <a:endParaRPr lang="en-US" sz="4000"/>
          </a:p>
        </p:txBody>
      </p:sp>
      <p:sp>
        <p:nvSpPr>
          <p:cNvPr id="61547551" name="Text 0"/>
          <p:cNvSpPr/>
          <p:nvPr>
            <p:ph type="body" idx="102" hasCustomPrompt="1"/>
          </p:nvPr>
        </p:nvSpPr>
        <p:spPr bwMode="auto">
          <a:xfrm>
            <a:off x="731520" y="38404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/>
            </a:pPr>
            <a:r>
              <a:rPr lang="en-US" sz="2000">
                <a:solidFill>
                  <a:schemeClr val="accent2"/>
                </a:solidFill>
              </a:rPr>
              <a:t>Why the GCC, why Salesforce, why now</a:t>
            </a:r>
            <a:endParaRPr lang="en-US" sz="2000"/>
          </a:p>
        </p:txBody>
      </p:sp>
      <p:sp>
        <p:nvSpPr>
          <p:cNvPr id="2091371709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247120" y="635508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0491457" name="Text 0"/>
          <p:cNvSpPr/>
          <p:nvPr>
            <p:ph type="title" idx="101" hasCustomPrompt="1"/>
          </p:nvPr>
        </p:nvSpPr>
        <p:spPr bwMode="auto">
          <a:xfrm>
            <a:off x="548640" y="32004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000" b="1">
                <a:solidFill>
                  <a:schemeClr val="accent1"/>
                </a:solidFill>
              </a:rPr>
              <a:t>Salesforce is betting on Saudi Arabia, and partners are the bottleneck</a:t>
            </a:r>
            <a:endParaRPr lang="en-US" sz="3000"/>
          </a:p>
        </p:txBody>
      </p:sp>
      <p:sp>
        <p:nvSpPr>
          <p:cNvPr id="660836245" name="Shape 1"/>
          <p:cNvSpPr/>
          <p:nvPr/>
        </p:nvSpPr>
        <p:spPr bwMode="auto">
          <a:xfrm>
            <a:off x="548640" y="1463040"/>
            <a:ext cx="2606040" cy="32918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7074814" name="Text 2"/>
          <p:cNvSpPr txBox="1"/>
          <p:nvPr/>
        </p:nvSpPr>
        <p:spPr bwMode="auto">
          <a:xfrm>
            <a:off x="777240" y="17373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4400" b="1">
                <a:solidFill>
                  <a:schemeClr val="accent1"/>
                </a:solidFill>
                <a:latin typeface="Cambria"/>
                <a:ea typeface="Cambria"/>
                <a:cs typeface="Cambria"/>
              </a:rPr>
              <a:t>$500M</a:t>
            </a:r>
            <a:endParaRPr lang="en-US" sz="4400"/>
          </a:p>
        </p:txBody>
      </p:sp>
      <p:sp>
        <p:nvSpPr>
          <p:cNvPr id="1786018330" name="Text 3"/>
          <p:cNvSpPr txBox="1"/>
          <p:nvPr/>
        </p:nvSpPr>
        <p:spPr bwMode="auto">
          <a:xfrm>
            <a:off x="777240" y="278892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600">
                <a:solidFill>
                  <a:schemeClr val="tx1"/>
                </a:solidFill>
              </a:rPr>
              <a:t>Salesforce investment in KSA announced at LEAP 2025, including partner-ecosystem expansion</a:t>
            </a:r>
            <a:endParaRPr lang="en-US" sz="1600"/>
          </a:p>
        </p:txBody>
      </p:sp>
      <p:sp>
        <p:nvSpPr>
          <p:cNvPr id="892973376" name="Shape 4"/>
          <p:cNvSpPr/>
          <p:nvPr/>
        </p:nvSpPr>
        <p:spPr bwMode="auto">
          <a:xfrm>
            <a:off x="3337560" y="1463040"/>
            <a:ext cx="2606040" cy="32918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86547820" name="Text 5"/>
          <p:cNvSpPr txBox="1"/>
          <p:nvPr/>
        </p:nvSpPr>
        <p:spPr bwMode="auto">
          <a:xfrm>
            <a:off x="3566160" y="17373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4400" b="1">
                <a:solidFill>
                  <a:schemeClr val="accent1"/>
                </a:solidFill>
                <a:latin typeface="Cambria"/>
                <a:ea typeface="Cambria"/>
                <a:cs typeface="Cambria"/>
              </a:rPr>
              <a:t>Riyadh</a:t>
            </a:r>
            <a:endParaRPr lang="en-US" sz="4400"/>
          </a:p>
        </p:txBody>
      </p:sp>
      <p:sp>
        <p:nvSpPr>
          <p:cNvPr id="272085193" name="Text 6"/>
          <p:cNvSpPr txBox="1"/>
          <p:nvPr/>
        </p:nvSpPr>
        <p:spPr bwMode="auto">
          <a:xfrm>
            <a:off x="3566160" y="278892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600">
                <a:solidFill>
                  <a:schemeClr val="tx1"/>
                </a:solidFill>
              </a:rPr>
              <a:t>New Salesforce regional HQ (Jan 2025) plus an AI Center of Excellence with IBM</a:t>
            </a:r>
            <a:endParaRPr lang="en-US" sz="1600"/>
          </a:p>
        </p:txBody>
      </p:sp>
      <p:sp>
        <p:nvSpPr>
          <p:cNvPr id="278201993" name="Shape 7"/>
          <p:cNvSpPr/>
          <p:nvPr/>
        </p:nvSpPr>
        <p:spPr bwMode="auto">
          <a:xfrm>
            <a:off x="6126480" y="1463040"/>
            <a:ext cx="2606040" cy="32918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1418309" name="Text 8"/>
          <p:cNvSpPr txBox="1"/>
          <p:nvPr/>
        </p:nvSpPr>
        <p:spPr bwMode="auto">
          <a:xfrm>
            <a:off x="6355080" y="17373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chemeClr val="accent1"/>
                </a:solidFill>
                <a:latin typeface="Cambria"/>
                <a:ea typeface="Cambria"/>
                <a:cs typeface="Cambria"/>
              </a:rPr>
              <a:t>Hyperforce</a:t>
            </a:r>
            <a:endParaRPr lang="en-US" sz="3000"/>
          </a:p>
        </p:txBody>
      </p:sp>
      <p:sp>
        <p:nvSpPr>
          <p:cNvPr id="823988640" name="Text 9"/>
          <p:cNvSpPr txBox="1"/>
          <p:nvPr/>
        </p:nvSpPr>
        <p:spPr bwMode="auto">
          <a:xfrm>
            <a:off x="6355080" y="278892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600">
                <a:solidFill>
                  <a:schemeClr val="tx1"/>
                </a:solidFill>
              </a:rPr>
              <a:t>Local hosting on AWS in KSA unlocks BFSI, government and healthcare (SAMA/PDPL)</a:t>
            </a:r>
            <a:endParaRPr lang="en-US" sz="1600"/>
          </a:p>
        </p:txBody>
      </p:sp>
      <p:sp>
        <p:nvSpPr>
          <p:cNvPr id="1399676209" name="Shape 10"/>
          <p:cNvSpPr/>
          <p:nvPr/>
        </p:nvSpPr>
        <p:spPr bwMode="auto">
          <a:xfrm>
            <a:off x="8915400" y="1463040"/>
            <a:ext cx="2606040" cy="32918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42696898" name="Text 11"/>
          <p:cNvSpPr txBox="1"/>
          <p:nvPr/>
        </p:nvSpPr>
        <p:spPr bwMode="auto">
          <a:xfrm>
            <a:off x="9144000" y="17373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4400" b="1">
                <a:solidFill>
                  <a:schemeClr val="accent1"/>
                </a:solidFill>
                <a:latin typeface="Cambria"/>
                <a:ea typeface="Cambria"/>
                <a:cs typeface="Cambria"/>
              </a:rPr>
              <a:t>30k</a:t>
            </a:r>
            <a:endParaRPr lang="en-US" sz="4400"/>
          </a:p>
        </p:txBody>
      </p:sp>
      <p:sp>
        <p:nvSpPr>
          <p:cNvPr id="1497851592" name="Text 12"/>
          <p:cNvSpPr txBox="1"/>
          <p:nvPr/>
        </p:nvSpPr>
        <p:spPr bwMode="auto">
          <a:xfrm>
            <a:off x="9144000" y="278892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600">
                <a:solidFill>
                  <a:schemeClr val="tx1"/>
                </a:solidFill>
              </a:rPr>
              <a:t>Saudis to be upskilled by Salesforce by 2030, a signal of long-term demand</a:t>
            </a:r>
            <a:endParaRPr lang="en-US" sz="1600"/>
          </a:p>
        </p:txBody>
      </p:sp>
      <p:sp>
        <p:nvSpPr>
          <p:cNvPr id="1340476477" name="Text 13"/>
          <p:cNvSpPr txBox="1"/>
          <p:nvPr/>
        </p:nvSpPr>
        <p:spPr bwMode="auto"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600" i="1">
                <a:solidFill>
                  <a:schemeClr val="accent3"/>
                </a:solidFill>
              </a:rPr>
              <a:t>Implication: Salesforce needs more capable local partners. A new entrant with real delivery capacity is welcome, not blocked.</a:t>
            </a:r>
            <a:endParaRPr lang="en-US" sz="1600"/>
          </a:p>
        </p:txBody>
      </p:sp>
      <p:sp>
        <p:nvSpPr>
          <p:cNvPr id="613996721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247120" y="635508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7934923" name="Text 0"/>
          <p:cNvSpPr/>
          <p:nvPr>
            <p:ph type="title" idx="101" hasCustomPrompt="1"/>
          </p:nvPr>
        </p:nvSpPr>
        <p:spPr bwMode="auto">
          <a:xfrm>
            <a:off x="548640" y="32004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000" b="1">
                <a:solidFill>
                  <a:schemeClr val="accent1"/>
                </a:solidFill>
              </a:rPr>
              <a:t>A double-digit growth market, led by KSA</a:t>
            </a:r>
            <a:endParaRPr lang="en-US" sz="3000"/>
          </a:p>
        </p:txBody>
      </p:sp>
      <p:graphicFrame>
        <p:nvGraphicFramePr>
          <p:cNvPr id="14605544" name="Chart 0" descr=""/>
          <p:cNvGraphicFramePr>
            <a:graphicFrameLocks xmlns:a="http://schemas.openxmlformats.org/drawingml/2006/main"/>
          </p:cNvGraphicFramePr>
          <p:nvPr/>
        </p:nvGraphicFramePr>
        <p:xfrm rot="0">
          <a:off x="548640" y="1280160"/>
          <a:ext cx="5852160" cy="4754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50323950" name="Shape 1"/>
          <p:cNvSpPr/>
          <p:nvPr/>
        </p:nvSpPr>
        <p:spPr bwMode="auto">
          <a:xfrm>
            <a:off x="6766560" y="1371600"/>
            <a:ext cx="484632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55570193" name="Text 2"/>
          <p:cNvSpPr txBox="1"/>
          <p:nvPr/>
        </p:nvSpPr>
        <p:spPr bwMode="auto">
          <a:xfrm>
            <a:off x="6995160" y="15544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400" b="1">
                <a:solidFill>
                  <a:schemeClr val="accent2"/>
                </a:solidFill>
                <a:latin typeface="Cambria"/>
                <a:ea typeface="Cambria"/>
                <a:cs typeface="Cambria"/>
              </a:rPr>
              <a:t>~30%</a:t>
            </a:r>
            <a:endParaRPr lang="en-US" sz="3400"/>
          </a:p>
        </p:txBody>
      </p:sp>
      <p:sp>
        <p:nvSpPr>
          <p:cNvPr id="463632983" name="Text 3"/>
          <p:cNvSpPr txBox="1"/>
          <p:nvPr/>
        </p:nvSpPr>
        <p:spPr bwMode="auto">
          <a:xfrm>
            <a:off x="8778240" y="155448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tx1"/>
                </a:solidFill>
              </a:rPr>
              <a:t>KSA share of the GCC CRM market, the largest country (IMARC)</a:t>
            </a:r>
            <a:endParaRPr lang="en-US" sz="1400"/>
          </a:p>
        </p:txBody>
      </p:sp>
      <p:sp>
        <p:nvSpPr>
          <p:cNvPr id="1038789901" name="Shape 4"/>
          <p:cNvSpPr/>
          <p:nvPr/>
        </p:nvSpPr>
        <p:spPr bwMode="auto">
          <a:xfrm>
            <a:off x="6766560" y="2971800"/>
            <a:ext cx="484632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11224810" name="Text 5"/>
          <p:cNvSpPr txBox="1"/>
          <p:nvPr/>
        </p:nvSpPr>
        <p:spPr bwMode="auto">
          <a:xfrm>
            <a:off x="6995160" y="31546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400" b="1">
                <a:solidFill>
                  <a:schemeClr val="accent2"/>
                </a:solidFill>
                <a:latin typeface="Cambria"/>
                <a:ea typeface="Cambria"/>
                <a:cs typeface="Cambria"/>
              </a:rPr>
              <a:t>12.9%</a:t>
            </a:r>
            <a:endParaRPr lang="en-US" sz="3400"/>
          </a:p>
        </p:txBody>
      </p:sp>
      <p:sp>
        <p:nvSpPr>
          <p:cNvPr id="1637717177" name="Text 6"/>
          <p:cNvSpPr txBox="1"/>
          <p:nvPr/>
        </p:nvSpPr>
        <p:spPr bwMode="auto">
          <a:xfrm>
            <a:off x="8778240" y="315468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tx1"/>
                </a:solidFill>
              </a:rPr>
              <a:t>Saudi CRM services CAGR to 2031</a:t>
            </a:r>
            <a:endParaRPr lang="en-US" sz="1400"/>
          </a:p>
        </p:txBody>
      </p:sp>
      <p:sp>
        <p:nvSpPr>
          <p:cNvPr id="471025924" name="Shape 7"/>
          <p:cNvSpPr/>
          <p:nvPr/>
        </p:nvSpPr>
        <p:spPr bwMode="auto">
          <a:xfrm>
            <a:off x="6766560" y="4572000"/>
            <a:ext cx="484632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86259580" name="Text 8"/>
          <p:cNvSpPr txBox="1"/>
          <p:nvPr/>
        </p:nvSpPr>
        <p:spPr bwMode="auto">
          <a:xfrm>
            <a:off x="6995160" y="47548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400" b="1">
                <a:solidFill>
                  <a:schemeClr val="accent2"/>
                </a:solidFill>
                <a:latin typeface="Cambria"/>
                <a:ea typeface="Cambria"/>
                <a:cs typeface="Cambria"/>
              </a:rPr>
              <a:t>13.6%</a:t>
            </a:r>
            <a:endParaRPr lang="en-US" sz="3400"/>
          </a:p>
        </p:txBody>
      </p:sp>
      <p:sp>
        <p:nvSpPr>
          <p:cNvPr id="1165911529" name="Text 9"/>
          <p:cNvSpPr txBox="1"/>
          <p:nvPr/>
        </p:nvSpPr>
        <p:spPr bwMode="auto">
          <a:xfrm>
            <a:off x="8778240" y="475488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tx1"/>
                </a:solidFill>
              </a:rPr>
              <a:t>UAE CRM services CAGR to 2031</a:t>
            </a:r>
            <a:endParaRPr lang="en-US" sz="1400"/>
          </a:p>
        </p:txBody>
      </p:sp>
      <p:sp>
        <p:nvSpPr>
          <p:cNvPr id="204602638" name="Text 10"/>
          <p:cNvSpPr txBox="1"/>
          <p:nvPr/>
        </p:nvSpPr>
        <p:spPr bwMode="auto">
          <a:xfrm>
            <a:off x="6766560" y="57607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 i="1">
                <a:solidFill>
                  <a:schemeClr val="accent3"/>
                </a:solidFill>
              </a:rPr>
              <a:t>Second wave: existing Salesforce customers now need optimization, data cleanup and Agentforce readiness.</a:t>
            </a:r>
            <a:endParaRPr lang="en-US" sz="1200"/>
          </a:p>
        </p:txBody>
      </p:sp>
      <p:sp>
        <p:nvSpPr>
          <p:cNvPr id="1207298755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247120" y="635508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4318058" name="Text 0"/>
          <p:cNvSpPr/>
          <p:nvPr>
            <p:ph type="title" idx="101" hasCustomPrompt="1"/>
          </p:nvPr>
        </p:nvSpPr>
        <p:spPr bwMode="auto">
          <a:xfrm>
            <a:off x="548640" y="32004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000" b="1">
                <a:solidFill>
                  <a:schemeClr val="accent1"/>
                </a:solidFill>
              </a:rPr>
              <a:t>What GCC buyers need, and competitors under-deliver</a:t>
            </a:r>
            <a:endParaRPr lang="en-US" sz="3000"/>
          </a:p>
        </p:txBody>
      </p:sp>
      <p:sp>
        <p:nvSpPr>
          <p:cNvPr id="2141148586" name="Shape 1"/>
          <p:cNvSpPr/>
          <p:nvPr/>
        </p:nvSpPr>
        <p:spPr bwMode="auto">
          <a:xfrm>
            <a:off x="548640" y="137160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4059815" name="Shape 2"/>
          <p:cNvSpPr/>
          <p:nvPr/>
        </p:nvSpPr>
        <p:spPr bwMode="auto">
          <a:xfrm>
            <a:off x="822960" y="16459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32499712" name="Text 3"/>
          <p:cNvSpPr txBox="1"/>
          <p:nvPr/>
        </p:nvSpPr>
        <p:spPr bwMode="auto">
          <a:xfrm>
            <a:off x="82296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accent1"/>
                </a:solidFill>
              </a:rPr>
              <a:t>1</a:t>
            </a:r>
            <a:endParaRPr lang="en-US" sz="1400"/>
          </a:p>
        </p:txBody>
      </p:sp>
      <p:sp>
        <p:nvSpPr>
          <p:cNvPr id="1409173739" name="Text 4"/>
          <p:cNvSpPr txBox="1"/>
          <p:nvPr/>
        </p:nvSpPr>
        <p:spPr bwMode="auto">
          <a:xfrm>
            <a:off x="822960" y="2286000"/>
            <a:ext cx="301751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800" b="1">
                <a:solidFill>
                  <a:schemeClr val="accent1"/>
                </a:solidFill>
              </a:rPr>
              <a:t>Arabic / RTL</a:t>
            </a:r>
            <a:endParaRPr lang="en-US" sz="1800"/>
          </a:p>
        </p:txBody>
      </p:sp>
      <p:sp>
        <p:nvSpPr>
          <p:cNvPr id="818343714" name="Text 5"/>
          <p:cNvSpPr txBox="1"/>
          <p:nvPr/>
        </p:nvSpPr>
        <p:spPr bwMode="auto">
          <a:xfrm>
            <a:off x="822960" y="2697480"/>
            <a:ext cx="301751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500">
                <a:solidFill>
                  <a:schemeClr val="tx1"/>
                </a:solidFill>
              </a:rPr>
              <a:t>Bilingual portals for government, retail and healthcare</a:t>
            </a:r>
            <a:endParaRPr lang="en-US" sz="1500"/>
          </a:p>
        </p:txBody>
      </p:sp>
      <p:sp>
        <p:nvSpPr>
          <p:cNvPr id="862164571" name="Shape 6"/>
          <p:cNvSpPr/>
          <p:nvPr/>
        </p:nvSpPr>
        <p:spPr bwMode="auto">
          <a:xfrm>
            <a:off x="4297680" y="137160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53772206" name="Shape 7"/>
          <p:cNvSpPr/>
          <p:nvPr/>
        </p:nvSpPr>
        <p:spPr bwMode="auto">
          <a:xfrm>
            <a:off x="4572000" y="16459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28365629" name="Text 8"/>
          <p:cNvSpPr txBox="1"/>
          <p:nvPr/>
        </p:nvSpPr>
        <p:spPr bwMode="auto">
          <a:xfrm>
            <a:off x="457200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accent1"/>
                </a:solidFill>
              </a:rPr>
              <a:t>2</a:t>
            </a:r>
            <a:endParaRPr lang="en-US" sz="1400"/>
          </a:p>
        </p:txBody>
      </p:sp>
      <p:sp>
        <p:nvSpPr>
          <p:cNvPr id="2044133086" name="Text 9"/>
          <p:cNvSpPr txBox="1"/>
          <p:nvPr/>
        </p:nvSpPr>
        <p:spPr bwMode="auto">
          <a:xfrm>
            <a:off x="4572000" y="2286000"/>
            <a:ext cx="301751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800" b="1">
                <a:solidFill>
                  <a:schemeClr val="accent1"/>
                </a:solidFill>
              </a:rPr>
              <a:t>WhatsApp-first</a:t>
            </a:r>
            <a:endParaRPr lang="en-US" sz="1800"/>
          </a:p>
        </p:txBody>
      </p:sp>
      <p:sp>
        <p:nvSpPr>
          <p:cNvPr id="73423297" name="Text 10"/>
          <p:cNvSpPr txBox="1"/>
          <p:nvPr/>
        </p:nvSpPr>
        <p:spPr bwMode="auto">
          <a:xfrm>
            <a:off x="4572000" y="2697480"/>
            <a:ext cx="301751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500">
                <a:solidFill>
                  <a:schemeClr val="tx1"/>
                </a:solidFill>
              </a:rPr>
              <a:t>The dominant customer channel in the region, and non-negotiable</a:t>
            </a:r>
            <a:endParaRPr lang="en-US" sz="1500"/>
          </a:p>
        </p:txBody>
      </p:sp>
      <p:sp>
        <p:nvSpPr>
          <p:cNvPr id="1338916488" name="Shape 11"/>
          <p:cNvSpPr/>
          <p:nvPr/>
        </p:nvSpPr>
        <p:spPr bwMode="auto">
          <a:xfrm>
            <a:off x="8046720" y="137160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830108" name="Shape 12"/>
          <p:cNvSpPr/>
          <p:nvPr/>
        </p:nvSpPr>
        <p:spPr bwMode="auto">
          <a:xfrm>
            <a:off x="8321039" y="16459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0826522" name="Text 13"/>
          <p:cNvSpPr txBox="1"/>
          <p:nvPr/>
        </p:nvSpPr>
        <p:spPr bwMode="auto">
          <a:xfrm>
            <a:off x="8321039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accent1"/>
                </a:solidFill>
              </a:rPr>
              <a:t>3</a:t>
            </a:r>
            <a:endParaRPr lang="en-US" sz="1400"/>
          </a:p>
        </p:txBody>
      </p:sp>
      <p:sp>
        <p:nvSpPr>
          <p:cNvPr id="1950999506" name="Text 14"/>
          <p:cNvSpPr txBox="1"/>
          <p:nvPr/>
        </p:nvSpPr>
        <p:spPr bwMode="auto">
          <a:xfrm>
            <a:off x="8321039" y="2286000"/>
            <a:ext cx="301751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800" b="1">
                <a:solidFill>
                  <a:schemeClr val="accent1"/>
                </a:solidFill>
              </a:rPr>
              <a:t>Local integrations</a:t>
            </a:r>
            <a:endParaRPr lang="en-US" sz="1800"/>
          </a:p>
        </p:txBody>
      </p:sp>
      <p:sp>
        <p:nvSpPr>
          <p:cNvPr id="56403217" name="Text 15"/>
          <p:cNvSpPr txBox="1"/>
          <p:nvPr/>
        </p:nvSpPr>
        <p:spPr bwMode="auto">
          <a:xfrm>
            <a:off x="8321039" y="2697480"/>
            <a:ext cx="301751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500">
                <a:solidFill>
                  <a:schemeClr val="tx1"/>
                </a:solidFill>
              </a:rPr>
              <a:t>ZATCA e-invoicing, Nafath, UAE Pass, SADAD, local portals</a:t>
            </a:r>
            <a:endParaRPr lang="en-US" sz="1500"/>
          </a:p>
        </p:txBody>
      </p:sp>
      <p:sp>
        <p:nvSpPr>
          <p:cNvPr id="471612603" name="Shape 16"/>
          <p:cNvSpPr/>
          <p:nvPr/>
        </p:nvSpPr>
        <p:spPr bwMode="auto">
          <a:xfrm>
            <a:off x="548640" y="374904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01011325" name="Shape 17"/>
          <p:cNvSpPr/>
          <p:nvPr/>
        </p:nvSpPr>
        <p:spPr bwMode="auto">
          <a:xfrm>
            <a:off x="822960" y="40233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78950797" name="Text 18"/>
          <p:cNvSpPr txBox="1"/>
          <p:nvPr/>
        </p:nvSpPr>
        <p:spPr bwMode="auto">
          <a:xfrm>
            <a:off x="82296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accent1"/>
                </a:solidFill>
              </a:rPr>
              <a:t>4</a:t>
            </a:r>
            <a:endParaRPr lang="en-US" sz="1400"/>
          </a:p>
        </p:txBody>
      </p:sp>
      <p:sp>
        <p:nvSpPr>
          <p:cNvPr id="56661688" name="Text 19"/>
          <p:cNvSpPr txBox="1"/>
          <p:nvPr/>
        </p:nvSpPr>
        <p:spPr bwMode="auto">
          <a:xfrm>
            <a:off x="822960" y="4663440"/>
            <a:ext cx="301751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800" b="1">
                <a:solidFill>
                  <a:schemeClr val="accent1"/>
                </a:solidFill>
              </a:rPr>
              <a:t>Compliance</a:t>
            </a:r>
            <a:endParaRPr lang="en-US" sz="1800"/>
          </a:p>
        </p:txBody>
      </p:sp>
      <p:sp>
        <p:nvSpPr>
          <p:cNvPr id="1858523407" name="Text 20"/>
          <p:cNvSpPr txBox="1"/>
          <p:nvPr/>
        </p:nvSpPr>
        <p:spPr bwMode="auto">
          <a:xfrm>
            <a:off x="822960" y="5074920"/>
            <a:ext cx="301751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500">
                <a:solidFill>
                  <a:schemeClr val="tx1"/>
                </a:solidFill>
              </a:rPr>
              <a:t>PDPL, SAMA, data residency through Hyperforce</a:t>
            </a:r>
            <a:endParaRPr lang="en-US" sz="1500"/>
          </a:p>
        </p:txBody>
      </p:sp>
      <p:sp>
        <p:nvSpPr>
          <p:cNvPr id="119899935" name="Shape 21"/>
          <p:cNvSpPr/>
          <p:nvPr/>
        </p:nvSpPr>
        <p:spPr bwMode="auto">
          <a:xfrm>
            <a:off x="4297680" y="374904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3965160" name="Shape 22"/>
          <p:cNvSpPr/>
          <p:nvPr/>
        </p:nvSpPr>
        <p:spPr bwMode="auto">
          <a:xfrm>
            <a:off x="4572000" y="40233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15708916" name="Text 23"/>
          <p:cNvSpPr txBox="1"/>
          <p:nvPr/>
        </p:nvSpPr>
        <p:spPr bwMode="auto">
          <a:xfrm>
            <a:off x="457200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accent1"/>
                </a:solidFill>
              </a:rPr>
              <a:t>5</a:t>
            </a:r>
            <a:endParaRPr lang="en-US" sz="1400"/>
          </a:p>
        </p:txBody>
      </p:sp>
      <p:sp>
        <p:nvSpPr>
          <p:cNvPr id="2084677220" name="Text 24"/>
          <p:cNvSpPr txBox="1"/>
          <p:nvPr/>
        </p:nvSpPr>
        <p:spPr bwMode="auto">
          <a:xfrm>
            <a:off x="4572000" y="4663440"/>
            <a:ext cx="301751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800" b="1">
                <a:solidFill>
                  <a:schemeClr val="accent1"/>
                </a:solidFill>
              </a:rPr>
              <a:t>Rescue &amp; optimize</a:t>
            </a:r>
            <a:endParaRPr lang="en-US" sz="1800"/>
          </a:p>
        </p:txBody>
      </p:sp>
      <p:sp>
        <p:nvSpPr>
          <p:cNvPr id="988436996" name="Text 25"/>
          <p:cNvSpPr txBox="1"/>
          <p:nvPr/>
        </p:nvSpPr>
        <p:spPr bwMode="auto">
          <a:xfrm>
            <a:off x="4572000" y="5074920"/>
            <a:ext cx="301751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500">
                <a:solidFill>
                  <a:schemeClr val="tx1"/>
                </a:solidFill>
              </a:rPr>
              <a:t>Poorly implemented orgs, low adoption, unused licenses</a:t>
            </a:r>
            <a:endParaRPr lang="en-US" sz="1500"/>
          </a:p>
        </p:txBody>
      </p:sp>
      <p:sp>
        <p:nvSpPr>
          <p:cNvPr id="379874883" name="Shape 26"/>
          <p:cNvSpPr/>
          <p:nvPr/>
        </p:nvSpPr>
        <p:spPr bwMode="auto">
          <a:xfrm>
            <a:off x="8046720" y="374904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13004432" name="Shape 27"/>
          <p:cNvSpPr/>
          <p:nvPr/>
        </p:nvSpPr>
        <p:spPr bwMode="auto">
          <a:xfrm>
            <a:off x="8321039" y="40233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17474654" name="Text 28"/>
          <p:cNvSpPr txBox="1"/>
          <p:nvPr/>
        </p:nvSpPr>
        <p:spPr bwMode="auto">
          <a:xfrm>
            <a:off x="8321039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accent1"/>
                </a:solidFill>
              </a:rPr>
              <a:t>6</a:t>
            </a:r>
            <a:endParaRPr lang="en-US" sz="1400"/>
          </a:p>
        </p:txBody>
      </p:sp>
      <p:sp>
        <p:nvSpPr>
          <p:cNvPr id="255988811" name="Text 29"/>
          <p:cNvSpPr txBox="1"/>
          <p:nvPr/>
        </p:nvSpPr>
        <p:spPr bwMode="auto">
          <a:xfrm>
            <a:off x="8321039" y="4663440"/>
            <a:ext cx="301751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800" b="1">
                <a:solidFill>
                  <a:schemeClr val="accent1"/>
                </a:solidFill>
              </a:rPr>
              <a:t>Managed services</a:t>
            </a:r>
            <a:endParaRPr lang="en-US" sz="1800"/>
          </a:p>
        </p:txBody>
      </p:sp>
      <p:sp>
        <p:nvSpPr>
          <p:cNvPr id="683618092" name="Text 30"/>
          <p:cNvSpPr txBox="1"/>
          <p:nvPr/>
        </p:nvSpPr>
        <p:spPr bwMode="auto">
          <a:xfrm>
            <a:off x="8321039" y="5074920"/>
            <a:ext cx="301751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500">
                <a:solidFill>
                  <a:schemeClr val="tx1"/>
                </a:solidFill>
              </a:rPr>
              <a:t>Local Salesforce talent shortage creates recurring support (AMS) demand</a:t>
            </a:r>
            <a:endParaRPr lang="en-US" sz="1500"/>
          </a:p>
        </p:txBody>
      </p:sp>
      <p:sp>
        <p:nvSpPr>
          <p:cNvPr id="1112452372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247120" y="635508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8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7440301" name="Text 0"/>
          <p:cNvSpPr/>
          <p:nvPr>
            <p:ph type="title" idx="101" hasCustomPrompt="1"/>
          </p:nvPr>
        </p:nvSpPr>
        <p:spPr bwMode="auto">
          <a:xfrm>
            <a:off x="548640" y="32004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000" b="1">
                <a:solidFill>
                  <a:schemeClr val="accent1"/>
                </a:solidFill>
              </a:rPr>
              <a:t>Priority verticals: start where we already have proof</a:t>
            </a:r>
            <a:endParaRPr lang="en-US" sz="3000"/>
          </a:p>
        </p:txBody>
      </p:sp>
      <p:graphicFrame>
        <p:nvGraphicFramePr>
          <p:cNvPr id="1705723636" name="Table 0"/>
          <p:cNvGraphicFramePr>
            <a:graphicFrameLocks xmlns:a="http://schemas.openxmlformats.org/drawingml/2006/main" noGrp="1"/>
          </p:cNvGraphicFramePr>
          <p:nvPr/>
        </p:nvGraphicFramePr>
        <p:xfrm rot="0">
          <a:off x="548640" y="1280160"/>
          <a:ext cx="11064240" cy="9144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914400"/>
                <a:gridCol w="2377440"/>
                <a:gridCol w="4480560"/>
                <a:gridCol w="3291840"/>
              </a:tblGrid>
              <a:tr h="68580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</a:rPr>
                        <a:t>Priority</a:t>
                      </a:r>
                      <a:endParaRPr lang="en-US" sz="14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</a:rPr>
                        <a:t>Vertical</a:t>
                      </a:r>
                      <a:endParaRPr lang="en-US" sz="14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</a:rPr>
                        <a:t>Why it matters in GCC</a:t>
                      </a:r>
                      <a:endParaRPr lang="en-US" sz="14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</a:rPr>
                        <a:t>Lead Salesforce play</a:t>
                      </a:r>
                      <a:endParaRPr lang="en-US" sz="14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8580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 b="1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Real estate &amp; developers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Off-plan sales boom in UAE and KSA; portal-driven leads (Bayut, Property Finder)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Sales Cloud + Experience Cloud broker portal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2"/>
                    </a:solidFill>
                  </a:tcPr>
                </a:tc>
              </a:tr>
              <a:tr h="68580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 b="1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Automotive dealerships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Large family-owned dealer groups, service retention, multi-brand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Automotive Cloud / Service Cloud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 b="1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BFSI &amp; fintech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Unlocked by Hyperforce; digital banking and lending growth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Financial Services Cloud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2"/>
                    </a:solidFill>
                  </a:tcPr>
                </a:tc>
              </a:tr>
              <a:tr h="68580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 b="1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Healthcare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Private hospital groups expanding in KSA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Health Cloud + patient engagement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 b="1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Retail, eCommerce &amp; trading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Large trading houses and distributors: B2B ordering, dealer networks, omnichannel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Commerce Cloud (B2B) + Sales Cloud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2"/>
                    </a:solidFill>
                  </a:tcPr>
                </a:tc>
              </a:tr>
              <a:tr h="68580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 b="1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Logistics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Vision 2030 logistics-hub agenda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Service Cloud + field service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082030771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247120" y="635508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9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4921955" name="Text 0"/>
          <p:cNvSpPr/>
          <p:nvPr>
            <p:ph type="title" idx="101" hasCustomPrompt="1"/>
          </p:nvPr>
        </p:nvSpPr>
        <p:spPr bwMode="auto">
          <a:xfrm>
            <a:off x="731520" y="27432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4000" b="1">
                <a:solidFill>
                  <a:schemeClr val="bg1"/>
                </a:solidFill>
              </a:rPr>
              <a:t>The competitive landscape</a:t>
            </a:r>
            <a:endParaRPr lang="en-US" sz="4000"/>
          </a:p>
        </p:txBody>
      </p:sp>
      <p:sp>
        <p:nvSpPr>
          <p:cNvPr id="1475495827" name="Text 0"/>
          <p:cNvSpPr/>
          <p:nvPr>
            <p:ph type="body" idx="102" hasCustomPrompt="1"/>
          </p:nvPr>
        </p:nvSpPr>
        <p:spPr bwMode="auto">
          <a:xfrm>
            <a:off x="731520" y="38404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/>
            </a:pPr>
            <a:r>
              <a:rPr lang="en-US" sz="2000">
                <a:solidFill>
                  <a:schemeClr val="accent2"/>
                </a:solidFill>
              </a:rPr>
              <a:t>Who is already winning in KSA &amp; UAE, and where they are exposed</a:t>
            </a:r>
            <a:endParaRPr lang="en-US" sz="2000"/>
          </a:p>
        </p:txBody>
      </p:sp>
      <p:sp>
        <p:nvSpPr>
          <p:cNvPr id="1201654842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247120" y="635508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0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1004855" name="Text 0"/>
          <p:cNvSpPr/>
          <p:nvPr>
            <p:ph type="title" idx="101" hasCustomPrompt="1"/>
          </p:nvPr>
        </p:nvSpPr>
        <p:spPr bwMode="auto">
          <a:xfrm>
            <a:off x="548640" y="32004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000" b="1">
                <a:solidFill>
                  <a:schemeClr val="accent1"/>
                </a:solidFill>
              </a:rPr>
              <a:t>Five competitor groups, and two that matter most</a:t>
            </a:r>
            <a:endParaRPr lang="en-US" sz="3000"/>
          </a:p>
        </p:txBody>
      </p:sp>
      <p:sp>
        <p:nvSpPr>
          <p:cNvPr id="1367214598" name="Shape 1"/>
          <p:cNvSpPr/>
          <p:nvPr/>
        </p:nvSpPr>
        <p:spPr bwMode="auto">
          <a:xfrm>
            <a:off x="548640" y="1325880"/>
            <a:ext cx="1106424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92954141" name="Text 2"/>
          <p:cNvSpPr txBox="1"/>
          <p:nvPr/>
        </p:nvSpPr>
        <p:spPr bwMode="auto">
          <a:xfrm>
            <a:off x="777240" y="14173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700" b="1">
                <a:solidFill>
                  <a:schemeClr val="accent1"/>
                </a:solidFill>
              </a:rPr>
              <a:t>Global SIs</a:t>
            </a:r>
            <a:endParaRPr lang="en-US" sz="1700"/>
          </a:p>
        </p:txBody>
      </p:sp>
      <p:sp>
        <p:nvSpPr>
          <p:cNvPr id="1986865127" name="Text 3"/>
          <p:cNvSpPr txBox="1"/>
          <p:nvPr/>
        </p:nvSpPr>
        <p:spPr bwMode="auto">
          <a:xfrm>
            <a:off x="3566160" y="141732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tx1"/>
                </a:solidFill>
              </a:rPr>
              <a:t>Accenture, Deloitte, PwC, Capgemini, IBM, Globant, Publicis Sapient</a:t>
            </a:r>
            <a:endParaRPr lang="en-US" sz="1400"/>
          </a:p>
        </p:txBody>
      </p:sp>
      <p:sp>
        <p:nvSpPr>
          <p:cNvPr id="87004318" name="Shape 4"/>
          <p:cNvSpPr/>
          <p:nvPr/>
        </p:nvSpPr>
        <p:spPr bwMode="auto">
          <a:xfrm>
            <a:off x="9418320" y="1508759"/>
            <a:ext cx="2011680" cy="4572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56506798" name="Text 5"/>
          <p:cNvSpPr txBox="1"/>
          <p:nvPr/>
        </p:nvSpPr>
        <p:spPr bwMode="auto">
          <a:xfrm>
            <a:off x="9418320" y="1508759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chemeClr val="bg1"/>
                </a:solidFill>
              </a:rPr>
              <a:t>Low in mid-market</a:t>
            </a:r>
            <a:endParaRPr lang="en-US" sz="1200"/>
          </a:p>
        </p:txBody>
      </p:sp>
      <p:sp>
        <p:nvSpPr>
          <p:cNvPr id="406954520" name="Shape 6"/>
          <p:cNvSpPr/>
          <p:nvPr/>
        </p:nvSpPr>
        <p:spPr bwMode="auto">
          <a:xfrm>
            <a:off x="548640" y="2286000"/>
            <a:ext cx="1106424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08213361" name="Text 7"/>
          <p:cNvSpPr txBox="1"/>
          <p:nvPr/>
        </p:nvSpPr>
        <p:spPr bwMode="auto">
          <a:xfrm>
            <a:off x="777240" y="23774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700" b="1">
                <a:solidFill>
                  <a:schemeClr val="accent1"/>
                </a:solidFill>
              </a:rPr>
              <a:t>Regional specialists</a:t>
            </a:r>
            <a:endParaRPr lang="en-US" sz="1700"/>
          </a:p>
        </p:txBody>
      </p:sp>
      <p:sp>
        <p:nvSpPr>
          <p:cNvPr id="764250975" name="Text 8"/>
          <p:cNvSpPr txBox="1"/>
          <p:nvPr/>
        </p:nvSpPr>
        <p:spPr bwMode="auto">
          <a:xfrm>
            <a:off x="3566160" y="237744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tx1"/>
                </a:solidFill>
              </a:rPr>
              <a:t>Smaartt, Cloudzlab, Arcsen, Cloud Concept, EI-Technologies, Cloudastick</a:t>
            </a:r>
            <a:endParaRPr lang="en-US" sz="1400"/>
          </a:p>
        </p:txBody>
      </p:sp>
      <p:sp>
        <p:nvSpPr>
          <p:cNvPr id="1676449116" name="Shape 9"/>
          <p:cNvSpPr/>
          <p:nvPr/>
        </p:nvSpPr>
        <p:spPr bwMode="auto">
          <a:xfrm>
            <a:off x="9418320" y="2468880"/>
            <a:ext cx="201168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6596921" name="Text 10"/>
          <p:cNvSpPr txBox="1"/>
          <p:nvPr/>
        </p:nvSpPr>
        <p:spPr bwMode="auto">
          <a:xfrm>
            <a:off x="9418320" y="2468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chemeClr val="bg1"/>
                </a:solidFill>
              </a:rPr>
              <a:t>High</a:t>
            </a:r>
            <a:endParaRPr lang="en-US" sz="1200"/>
          </a:p>
        </p:txBody>
      </p:sp>
      <p:sp>
        <p:nvSpPr>
          <p:cNvPr id="825924268" name="Shape 11"/>
          <p:cNvSpPr/>
          <p:nvPr/>
        </p:nvSpPr>
        <p:spPr bwMode="auto">
          <a:xfrm>
            <a:off x="548640" y="3246120"/>
            <a:ext cx="1106424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51164714" name="Text 12"/>
          <p:cNvSpPr txBox="1"/>
          <p:nvPr/>
        </p:nvSpPr>
        <p:spPr bwMode="auto">
          <a:xfrm>
            <a:off x="777240" y="33375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700" b="1">
                <a:solidFill>
                  <a:schemeClr val="accent1"/>
                </a:solidFill>
              </a:rPr>
              <a:t>Egypt/Levant delivery</a:t>
            </a:r>
            <a:endParaRPr lang="en-US" sz="1700"/>
          </a:p>
        </p:txBody>
      </p:sp>
      <p:sp>
        <p:nvSpPr>
          <p:cNvPr id="1924915285" name="Text 13"/>
          <p:cNvSpPr txBox="1"/>
          <p:nvPr/>
        </p:nvSpPr>
        <p:spPr bwMode="auto">
          <a:xfrm>
            <a:off x="3566160" y="333756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tx1"/>
                </a:solidFill>
              </a:rPr>
              <a:t>Cloudzlab, Cloud Concept, zCloud: Arabic at near-offshore rates</a:t>
            </a:r>
            <a:endParaRPr lang="en-US" sz="1400"/>
          </a:p>
        </p:txBody>
      </p:sp>
      <p:sp>
        <p:nvSpPr>
          <p:cNvPr id="1469165466" name="Shape 14"/>
          <p:cNvSpPr/>
          <p:nvPr/>
        </p:nvSpPr>
        <p:spPr bwMode="auto">
          <a:xfrm>
            <a:off x="9418320" y="3429000"/>
            <a:ext cx="2011680" cy="4572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90280259" name="Text 15"/>
          <p:cNvSpPr txBox="1"/>
          <p:nvPr/>
        </p:nvSpPr>
        <p:spPr bwMode="auto">
          <a:xfrm>
            <a:off x="9418320" y="3429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chemeClr val="bg1"/>
                </a:solidFill>
              </a:rPr>
              <a:t>Medium–High</a:t>
            </a:r>
            <a:endParaRPr lang="en-US" sz="1200"/>
          </a:p>
        </p:txBody>
      </p:sp>
      <p:sp>
        <p:nvSpPr>
          <p:cNvPr id="793075808" name="Shape 16"/>
          <p:cNvSpPr/>
          <p:nvPr/>
        </p:nvSpPr>
        <p:spPr bwMode="auto">
          <a:xfrm>
            <a:off x="548640" y="4206240"/>
            <a:ext cx="1106424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62351765" name="Text 17"/>
          <p:cNvSpPr txBox="1"/>
          <p:nvPr/>
        </p:nvSpPr>
        <p:spPr bwMode="auto">
          <a:xfrm>
            <a:off x="777240" y="42976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700" b="1">
                <a:solidFill>
                  <a:schemeClr val="accent1"/>
                </a:solidFill>
              </a:rPr>
              <a:t>Indian offshore peers</a:t>
            </a:r>
            <a:endParaRPr lang="en-US" sz="1700"/>
          </a:p>
        </p:txBody>
      </p:sp>
      <p:sp>
        <p:nvSpPr>
          <p:cNvPr id="386650543" name="Text 18"/>
          <p:cNvSpPr txBox="1"/>
          <p:nvPr/>
        </p:nvSpPr>
        <p:spPr bwMode="auto">
          <a:xfrm>
            <a:off x="3566160" y="42976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tx1"/>
                </a:solidFill>
              </a:rPr>
              <a:t>Netsmartz, Ksolves, Cynoteck, Codleo, Appsierra</a:t>
            </a:r>
            <a:endParaRPr lang="en-US" sz="1400"/>
          </a:p>
        </p:txBody>
      </p:sp>
      <p:sp>
        <p:nvSpPr>
          <p:cNvPr id="1569483438" name="Shape 19"/>
          <p:cNvSpPr/>
          <p:nvPr/>
        </p:nvSpPr>
        <p:spPr bwMode="auto">
          <a:xfrm>
            <a:off x="9418320" y="4389120"/>
            <a:ext cx="201168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55628464" name="Text 20"/>
          <p:cNvSpPr txBox="1"/>
          <p:nvPr/>
        </p:nvSpPr>
        <p:spPr bwMode="auto">
          <a:xfrm>
            <a:off x="9418320" y="43891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chemeClr val="bg1"/>
                </a:solidFill>
              </a:rPr>
              <a:t>High (same pitch)</a:t>
            </a:r>
            <a:endParaRPr lang="en-US" sz="1200"/>
          </a:p>
        </p:txBody>
      </p:sp>
      <p:sp>
        <p:nvSpPr>
          <p:cNvPr id="1916244363" name="Shape 21"/>
          <p:cNvSpPr/>
          <p:nvPr/>
        </p:nvSpPr>
        <p:spPr bwMode="auto">
          <a:xfrm>
            <a:off x="548640" y="5166360"/>
            <a:ext cx="1106424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66839182" name="Text 22"/>
          <p:cNvSpPr txBox="1"/>
          <p:nvPr/>
        </p:nvSpPr>
        <p:spPr bwMode="auto">
          <a:xfrm>
            <a:off x="777240" y="5257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700" b="1">
                <a:solidFill>
                  <a:schemeClr val="accent1"/>
                </a:solidFill>
              </a:rPr>
              <a:t>Substitutes</a:t>
            </a:r>
            <a:endParaRPr lang="en-US" sz="1700"/>
          </a:p>
        </p:txBody>
      </p:sp>
      <p:sp>
        <p:nvSpPr>
          <p:cNvPr id="626288586" name="Text 23"/>
          <p:cNvSpPr txBox="1"/>
          <p:nvPr/>
        </p:nvSpPr>
        <p:spPr bwMode="auto">
          <a:xfrm>
            <a:off x="3566160" y="525780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tx1"/>
                </a:solidFill>
              </a:rPr>
              <a:t>Microsoft Dynamics, Zoho, HubSpot, Odoo partners</a:t>
            </a:r>
            <a:endParaRPr lang="en-US" sz="1400"/>
          </a:p>
        </p:txBody>
      </p:sp>
      <p:sp>
        <p:nvSpPr>
          <p:cNvPr id="1060393557" name="Shape 24"/>
          <p:cNvSpPr/>
          <p:nvPr/>
        </p:nvSpPr>
        <p:spPr bwMode="auto">
          <a:xfrm>
            <a:off x="9418320" y="5349240"/>
            <a:ext cx="2011680" cy="4572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30511409" name="Text 25"/>
          <p:cNvSpPr txBox="1"/>
          <p:nvPr/>
        </p:nvSpPr>
        <p:spPr bwMode="auto">
          <a:xfrm>
            <a:off x="9418320" y="5349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chemeClr val="bg1"/>
                </a:solidFill>
              </a:rPr>
              <a:t>Neutralized</a:t>
            </a:r>
            <a:endParaRPr lang="en-US" sz="1200"/>
          </a:p>
        </p:txBody>
      </p:sp>
      <p:sp>
        <p:nvSpPr>
          <p:cNvPr id="639837397" name="Text 26"/>
          <p:cNvSpPr txBox="1"/>
          <p:nvPr/>
        </p:nvSpPr>
        <p:spPr bwMode="auto">
          <a:xfrm>
            <a:off x="9418320" y="10058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100">
                <a:solidFill>
                  <a:schemeClr val="accent5"/>
                </a:solidFill>
              </a:rPr>
              <a:t>Threat to Ashapura</a:t>
            </a:r>
            <a:endParaRPr lang="en-US" sz="1100"/>
          </a:p>
        </p:txBody>
      </p:sp>
      <p:sp>
        <p:nvSpPr>
          <p:cNvPr id="481913024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247120" y="635508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6732338" name="Text 0"/>
          <p:cNvSpPr/>
          <p:nvPr>
            <p:ph type="title" idx="101" hasCustomPrompt="1"/>
          </p:nvPr>
        </p:nvSpPr>
        <p:spPr bwMode="auto">
          <a:xfrm>
            <a:off x="548640" y="32004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000" b="1">
                <a:solidFill>
                  <a:schemeClr val="accent1"/>
                </a:solidFill>
              </a:rPr>
              <a:t>Regional Salesforce specialists: the main battlefield</a:t>
            </a:r>
            <a:endParaRPr lang="en-US" sz="3000"/>
          </a:p>
        </p:txBody>
      </p:sp>
      <p:graphicFrame>
        <p:nvGraphicFramePr>
          <p:cNvPr id="447376938" name="Table 0"/>
          <p:cNvGraphicFramePr>
            <a:graphicFrameLocks xmlns:a="http://schemas.openxmlformats.org/drawingml/2006/main" noGrp="1"/>
          </p:cNvGraphicFramePr>
          <p:nvPr/>
        </p:nvGraphicFramePr>
        <p:xfrm rot="0">
          <a:off x="548640" y="1280160"/>
          <a:ext cx="11064240" cy="9144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194560"/>
                <a:gridCol w="1737360"/>
                <a:gridCol w="4754880"/>
                <a:gridCol w="2377440"/>
              </a:tblGrid>
              <a:tr h="603504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</a:rPr>
                        <a:t>Firm</a:t>
                      </a:r>
                      <a:endParaRPr lang="en-US" sz="14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</a:rPr>
                        <a:t>Base</a:t>
                      </a:r>
                      <a:endParaRPr lang="en-US" sz="14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</a:rPr>
                        <a:t>Positioning / claims</a:t>
                      </a:r>
                      <a:endParaRPr lang="en-US" sz="14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</a:rPr>
                        <a:t>Exposed on</a:t>
                      </a:r>
                      <a:endParaRPr lang="en-US" sz="14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 b="1">
                          <a:solidFill>
                            <a:schemeClr val="tx1"/>
                          </a:solidFill>
                        </a:rPr>
                        <a:t>Smaartt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Dubai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Claims largest regional partner; Summit; UAE, KSA, Qatar, Oman; 150+ customers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Premium price, capacity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2"/>
                    </a:solidFill>
                  </a:tcPr>
                </a:tc>
              </a:tr>
              <a:tr h="603504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 b="1">
                          <a:solidFill>
                            <a:schemeClr val="tx1"/>
                          </a:solidFill>
                        </a:rPr>
                        <a:t>Cloudzlab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Dubai + Cairo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Since 2015; ME Partner of the Year FY20; Platinum/Summit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Salesforce-only, mid-size bench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 b="1">
                          <a:solidFill>
                            <a:schemeClr val="tx1"/>
                          </a:solidFill>
                        </a:rPr>
                        <a:t>Arcsen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Dubai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Founded 2021; Salesforce, MuleSoft, Tableau, Slack; retail, auto, airlines, public sector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Young, few long-term references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2"/>
                    </a:solidFill>
                  </a:tcPr>
                </a:tc>
              </a:tr>
              <a:tr h="603504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 b="1">
                          <a:solidFill>
                            <a:schemeClr val="tx1"/>
                          </a:solidFill>
                        </a:rPr>
                        <a:t>Cloud Concept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Dubai / Cairo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Partner since 2009; 300+ projects; UAE, Egypt, Qatar, KSA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Ageing positioning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 b="1">
                          <a:solidFill>
                            <a:schemeClr val="tx1"/>
                          </a:solidFill>
                        </a:rPr>
                        <a:t>EI-Technologies Arabia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Riyadh, AD, Dubai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In region since 2011; KSA presence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Smaller scale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2"/>
                    </a:solidFill>
                  </a:tcPr>
                </a:tc>
              </a:tr>
              <a:tr h="603504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 b="1">
                          <a:solidFill>
                            <a:schemeClr val="tx1"/>
                          </a:solidFill>
                        </a:rPr>
                        <a:t>Cloudastick Systems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KSA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Sales, Service, Marketing Cloud; 24/7 managed support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Thin public footprint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 b="1">
                          <a:solidFill>
                            <a:schemeClr val="tx1"/>
                          </a:solidFill>
                        </a:rPr>
                        <a:t>Sendan / Cetrix / Leadex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Riyadh / KSA / Dubai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ZATCA localization; Salesforce.org; MuleSoft integration niches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Niche, limited breadth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985618085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247120" y="635508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0284338" name="Text 0"/>
          <p:cNvSpPr/>
          <p:nvPr>
            <p:ph type="title" idx="101" hasCustomPrompt="1"/>
          </p:nvPr>
        </p:nvSpPr>
        <p:spPr bwMode="auto">
          <a:xfrm>
            <a:off x="548640" y="32004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000" b="1">
                <a:solidFill>
                  <a:schemeClr val="accent1"/>
                </a:solidFill>
              </a:rPr>
              <a:t>Global SIs above us, offshore look-alikes beside us</a:t>
            </a:r>
            <a:endParaRPr lang="en-US" sz="3000"/>
          </a:p>
        </p:txBody>
      </p:sp>
      <p:sp>
        <p:nvSpPr>
          <p:cNvPr id="1587648170" name="Shape 1"/>
          <p:cNvSpPr/>
          <p:nvPr/>
        </p:nvSpPr>
        <p:spPr bwMode="auto">
          <a:xfrm>
            <a:off x="548640" y="1325880"/>
            <a:ext cx="5440680" cy="4800600"/>
          </a:xfrm>
          <a:prstGeom prst="roundRect">
            <a:avLst>
              <a:gd name="adj" fmla="val 1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53981411" name="Text 2"/>
          <p:cNvSpPr txBox="1"/>
          <p:nvPr/>
        </p:nvSpPr>
        <p:spPr bwMode="auto">
          <a:xfrm>
            <a:off x="822960" y="1508759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000" b="1">
                <a:solidFill>
                  <a:schemeClr val="accent1"/>
                </a:solidFill>
              </a:rPr>
              <a:t>Global system integrators</a:t>
            </a:r>
            <a:endParaRPr lang="en-US" sz="2000"/>
          </a:p>
        </p:txBody>
      </p:sp>
      <p:sp>
        <p:nvSpPr>
          <p:cNvPr id="2137479461" name="Text 3"/>
          <p:cNvSpPr txBox="1"/>
          <p:nvPr/>
        </p:nvSpPr>
        <p:spPr bwMode="auto">
          <a:xfrm>
            <a:off x="822960" y="20116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>
                <a:solidFill>
                  <a:schemeClr val="accent3"/>
                </a:solidFill>
              </a:rPr>
              <a:t>Accenture · Deloitte · PwC · Capgemini · IBM · Globant · Publicis Sapient (Changi) · KPMG · EY</a:t>
            </a:r>
            <a:endParaRPr lang="en-US" sz="1300"/>
          </a:p>
        </p:txBody>
      </p:sp>
      <p:sp>
        <p:nvSpPr>
          <p:cNvPr id="1784319821" name="Text 4"/>
          <p:cNvSpPr txBox="1"/>
          <p:nvPr/>
        </p:nvSpPr>
        <p:spPr bwMode="auto">
          <a:xfrm>
            <a:off x="822960" y="283464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Strong: brand, government and giga-project access, Salesforce co-sell</a:t>
            </a:r>
            <a:endParaRPr lang="en-US" sz="16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Weak: expensive, slow, ignore deals under ~$300–500K</a:t>
            </a:r>
            <a:endParaRPr lang="en-US" sz="16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Our play: own the mid-market and offer subcontract delivery capacity</a:t>
            </a:r>
            <a:endParaRPr lang="en-US" sz="1600"/>
          </a:p>
        </p:txBody>
      </p:sp>
      <p:sp>
        <p:nvSpPr>
          <p:cNvPr id="449110259" name="Shape 5"/>
          <p:cNvSpPr/>
          <p:nvPr/>
        </p:nvSpPr>
        <p:spPr bwMode="auto">
          <a:xfrm>
            <a:off x="6172200" y="1325880"/>
            <a:ext cx="5440680" cy="4800600"/>
          </a:xfrm>
          <a:prstGeom prst="roundRect">
            <a:avLst>
              <a:gd name="adj" fmla="val 1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436961" name="Text 6"/>
          <p:cNvSpPr txBox="1"/>
          <p:nvPr/>
        </p:nvSpPr>
        <p:spPr bwMode="auto">
          <a:xfrm>
            <a:off x="6446520" y="1508759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000" b="1">
                <a:solidFill>
                  <a:schemeClr val="accent1"/>
                </a:solidFill>
              </a:rPr>
              <a:t>Indian offshore peers</a:t>
            </a:r>
            <a:endParaRPr lang="en-US" sz="2000"/>
          </a:p>
        </p:txBody>
      </p:sp>
      <p:sp>
        <p:nvSpPr>
          <p:cNvPr id="743194452" name="Text 7"/>
          <p:cNvSpPr txBox="1"/>
          <p:nvPr/>
        </p:nvSpPr>
        <p:spPr bwMode="auto">
          <a:xfrm>
            <a:off x="6446520" y="20116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>
                <a:solidFill>
                  <a:schemeClr val="accent3"/>
                </a:solidFill>
              </a:rPr>
              <a:t>Netsmartz · Ksolves · Cynoteck · Codleo · Appsierra · Cloud Analogy</a:t>
            </a:r>
            <a:endParaRPr lang="en-US" sz="1300"/>
          </a:p>
        </p:txBody>
      </p:sp>
      <p:sp>
        <p:nvSpPr>
          <p:cNvPr id="797643794" name="Text 8"/>
          <p:cNvSpPr txBox="1"/>
          <p:nvPr/>
        </p:nvSpPr>
        <p:spPr bwMode="auto">
          <a:xfrm>
            <a:off x="6446520" y="283464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Strong: lowest price, large bench</a:t>
            </a:r>
            <a:endParaRPr lang="en-US" sz="16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Weak: SEO-led, remote, few GCC case studies, transactional</a:t>
            </a:r>
            <a:endParaRPr lang="en-US" sz="16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Our play: real local presence, KSA network, vertical packages, on-site workshops</a:t>
            </a:r>
            <a:endParaRPr lang="en-US" sz="1600"/>
          </a:p>
        </p:txBody>
      </p:sp>
      <p:sp>
        <p:nvSpPr>
          <p:cNvPr id="1530706730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247120" y="635508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9472186" name="Text 0"/>
          <p:cNvSpPr/>
          <p:nvPr>
            <p:ph type="title" idx="101" hasCustomPrompt="1"/>
          </p:nvPr>
        </p:nvSpPr>
        <p:spPr bwMode="auto">
          <a:xfrm>
            <a:off x="548640" y="32004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000" b="1">
                <a:solidFill>
                  <a:schemeClr val="accent1"/>
                </a:solidFill>
              </a:rPr>
              <a:t>The open space: local presence at offshore price</a:t>
            </a:r>
            <a:endParaRPr lang="en-US" sz="3000"/>
          </a:p>
        </p:txBody>
      </p:sp>
      <p:sp>
        <p:nvSpPr>
          <p:cNvPr id="1371877058" name="Shape 1"/>
          <p:cNvSpPr/>
          <p:nvPr/>
        </p:nvSpPr>
        <p:spPr bwMode="auto">
          <a:xfrm>
            <a:off x="822960" y="1371600"/>
            <a:ext cx="3474720" cy="2331720"/>
          </a:xfrm>
          <a:prstGeom prst="rect">
            <a:avLst/>
          </a:prstGeom>
          <a:solidFill>
            <a:schemeClr val="accent6"/>
          </a:solidFill>
          <a:ln w="12700">
            <a:solidFill>
              <a:srgbClr val="DCE7E5"/>
            </a:solidFill>
            <a:prstDash val="solid"/>
          </a:ln>
        </p:spPr>
      </p:sp>
      <p:sp>
        <p:nvSpPr>
          <p:cNvPr id="1656452947" name="Shape 2"/>
          <p:cNvSpPr/>
          <p:nvPr/>
        </p:nvSpPr>
        <p:spPr bwMode="auto">
          <a:xfrm>
            <a:off x="822960" y="6035039"/>
            <a:ext cx="694944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620612551" name="Shape 3"/>
          <p:cNvSpPr/>
          <p:nvPr/>
        </p:nvSpPr>
        <p:spPr bwMode="auto">
          <a:xfrm>
            <a:off x="822960" y="1371600"/>
            <a:ext cx="0" cy="466344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triangle"/>
          </a:ln>
        </p:spPr>
      </p:sp>
      <p:sp>
        <p:nvSpPr>
          <p:cNvPr id="1641526640" name="Shape 4"/>
          <p:cNvSpPr/>
          <p:nvPr/>
        </p:nvSpPr>
        <p:spPr bwMode="auto">
          <a:xfrm>
            <a:off x="4297680" y="1371600"/>
            <a:ext cx="0" cy="466344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dash"/>
          </a:ln>
        </p:spPr>
      </p:sp>
      <p:sp>
        <p:nvSpPr>
          <p:cNvPr id="979202764" name="Shape 5"/>
          <p:cNvSpPr/>
          <p:nvPr/>
        </p:nvSpPr>
        <p:spPr bwMode="auto">
          <a:xfrm>
            <a:off x="822960" y="3703320"/>
            <a:ext cx="6949440" cy="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dash"/>
          </a:ln>
        </p:spPr>
      </p:sp>
      <p:sp>
        <p:nvSpPr>
          <p:cNvPr id="1400711477" name="Text 6"/>
          <p:cNvSpPr txBox="1"/>
          <p:nvPr/>
        </p:nvSpPr>
        <p:spPr bwMode="auto">
          <a:xfrm>
            <a:off x="6675120" y="6080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  <a:defRPr/>
            </a:pPr>
            <a:r>
              <a:rPr lang="en-US" sz="1100">
                <a:solidFill>
                  <a:schemeClr val="accent5"/>
                </a:solidFill>
              </a:rPr>
              <a:t>Price →</a:t>
            </a:r>
            <a:endParaRPr lang="en-US" sz="1100"/>
          </a:p>
        </p:txBody>
      </p:sp>
      <p:sp>
        <p:nvSpPr>
          <p:cNvPr id="1153444992" name="Text 7"/>
          <p:cNvSpPr txBox="1"/>
          <p:nvPr/>
        </p:nvSpPr>
        <p:spPr bwMode="auto">
          <a:xfrm>
            <a:off x="914400" y="1325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100">
                <a:solidFill>
                  <a:schemeClr val="accent5"/>
                </a:solidFill>
              </a:rPr>
              <a:t>Local presence &amp; GCC references ↑</a:t>
            </a:r>
            <a:endParaRPr lang="en-US" sz="1100"/>
          </a:p>
        </p:txBody>
      </p:sp>
      <p:sp>
        <p:nvSpPr>
          <p:cNvPr id="171086046" name="Shape 8"/>
          <p:cNvSpPr/>
          <p:nvPr/>
        </p:nvSpPr>
        <p:spPr bwMode="auto">
          <a:xfrm>
            <a:off x="5394960" y="1828800"/>
            <a:ext cx="2103120" cy="4572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89559640" name="Text 9"/>
          <p:cNvSpPr txBox="1"/>
          <p:nvPr/>
        </p:nvSpPr>
        <p:spPr bwMode="auto">
          <a:xfrm>
            <a:off x="5394960" y="1828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chemeClr val="bg1"/>
                </a:solidFill>
              </a:rPr>
              <a:t>Global SIs</a:t>
            </a:r>
            <a:endParaRPr lang="en-US" sz="1200"/>
          </a:p>
        </p:txBody>
      </p:sp>
      <p:sp>
        <p:nvSpPr>
          <p:cNvPr id="411177434" name="Shape 10"/>
          <p:cNvSpPr/>
          <p:nvPr/>
        </p:nvSpPr>
        <p:spPr bwMode="auto">
          <a:xfrm>
            <a:off x="4572000" y="2651760"/>
            <a:ext cx="237744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099278558" name="Text 11"/>
          <p:cNvSpPr txBox="1"/>
          <p:nvPr/>
        </p:nvSpPr>
        <p:spPr bwMode="auto">
          <a:xfrm>
            <a:off x="4572000" y="2651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chemeClr val="bg1"/>
                </a:solidFill>
              </a:rPr>
              <a:t>Regional specialists</a:t>
            </a:r>
            <a:endParaRPr lang="en-US" sz="1200"/>
          </a:p>
        </p:txBody>
      </p:sp>
      <p:sp>
        <p:nvSpPr>
          <p:cNvPr id="1370096884" name="Shape 12"/>
          <p:cNvSpPr/>
          <p:nvPr/>
        </p:nvSpPr>
        <p:spPr bwMode="auto">
          <a:xfrm>
            <a:off x="2926080" y="3474720"/>
            <a:ext cx="2377440" cy="4572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34394253" name="Text 13"/>
          <p:cNvSpPr txBox="1"/>
          <p:nvPr/>
        </p:nvSpPr>
        <p:spPr bwMode="auto">
          <a:xfrm>
            <a:off x="2926080" y="34747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chemeClr val="bg1"/>
                </a:solidFill>
              </a:rPr>
              <a:t>Egypt/Levant delivery</a:t>
            </a:r>
            <a:endParaRPr lang="en-US" sz="1200"/>
          </a:p>
        </p:txBody>
      </p:sp>
      <p:sp>
        <p:nvSpPr>
          <p:cNvPr id="339463160" name="Shape 14"/>
          <p:cNvSpPr/>
          <p:nvPr/>
        </p:nvSpPr>
        <p:spPr bwMode="auto">
          <a:xfrm>
            <a:off x="1188720" y="4937760"/>
            <a:ext cx="2377440" cy="4572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90538413" name="Text 15"/>
          <p:cNvSpPr txBox="1"/>
          <p:nvPr/>
        </p:nvSpPr>
        <p:spPr bwMode="auto">
          <a:xfrm>
            <a:off x="1188720" y="4937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chemeClr val="bg1"/>
                </a:solidFill>
              </a:rPr>
              <a:t>Indian offshore peers</a:t>
            </a:r>
            <a:endParaRPr lang="en-US" sz="1200"/>
          </a:p>
        </p:txBody>
      </p:sp>
      <p:sp>
        <p:nvSpPr>
          <p:cNvPr id="230346402" name="Shape 16"/>
          <p:cNvSpPr/>
          <p:nvPr/>
        </p:nvSpPr>
        <p:spPr bwMode="auto">
          <a:xfrm>
            <a:off x="1188720" y="2011680"/>
            <a:ext cx="219456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19443785" name="Text 17"/>
          <p:cNvSpPr txBox="1"/>
          <p:nvPr/>
        </p:nvSpPr>
        <p:spPr bwMode="auto">
          <a:xfrm>
            <a:off x="1188720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chemeClr val="accent1"/>
                </a:solidFill>
              </a:rPr>
              <a:t>Ashapura target</a:t>
            </a:r>
            <a:endParaRPr lang="en-US" sz="1200"/>
          </a:p>
        </p:txBody>
      </p:sp>
      <p:sp>
        <p:nvSpPr>
          <p:cNvPr id="415785864" name="Shape 18"/>
          <p:cNvSpPr/>
          <p:nvPr/>
        </p:nvSpPr>
        <p:spPr bwMode="auto">
          <a:xfrm>
            <a:off x="8229600" y="1371600"/>
            <a:ext cx="3383280" cy="466344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64383207" name="Text 19"/>
          <p:cNvSpPr txBox="1"/>
          <p:nvPr/>
        </p:nvSpPr>
        <p:spPr bwMode="auto">
          <a:xfrm>
            <a:off x="8503920" y="16002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000" b="1">
                <a:solidFill>
                  <a:schemeClr val="accent1"/>
                </a:solidFill>
              </a:rPr>
              <a:t>Our position</a:t>
            </a:r>
            <a:endParaRPr lang="en-US" sz="2000"/>
          </a:p>
        </p:txBody>
      </p:sp>
      <p:sp>
        <p:nvSpPr>
          <p:cNvPr id="472474901" name="Text 20"/>
          <p:cNvSpPr txBox="1"/>
          <p:nvPr/>
        </p:nvSpPr>
        <p:spPr bwMode="auto">
          <a:xfrm>
            <a:off x="8503920" y="2148840"/>
            <a:ext cx="28803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Local relationship owner in Dubai, covering KSA</a:t>
            </a:r>
            <a:endParaRPr lang="en-US" sz="16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India delivery at 30–50% below local specialists</a:t>
            </a:r>
            <a:endParaRPr lang="en-US" sz="16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Salesforce-led, with Zoho, Odoo and Microsoft when they fit better</a:t>
            </a:r>
            <a:endParaRPr lang="en-US" sz="16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We never lose a deal to a platform</a:t>
            </a:r>
            <a:endParaRPr lang="en-US" sz="1600"/>
          </a:p>
        </p:txBody>
      </p:sp>
      <p:sp>
        <p:nvSpPr>
          <p:cNvPr id="787354380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247120" y="635508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4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6055126" name="Text 0"/>
          <p:cNvSpPr/>
          <p:nvPr>
            <p:ph type="title" idx="101" hasCustomPrompt="1"/>
          </p:nvPr>
        </p:nvSpPr>
        <p:spPr bwMode="auto">
          <a:xfrm>
            <a:off x="548640" y="32004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000" b="1">
                <a:solidFill>
                  <a:schemeClr val="accent1"/>
                </a:solidFill>
              </a:rPr>
              <a:t>How we beat each competitor group</a:t>
            </a:r>
            <a:endParaRPr lang="en-US" sz="3000"/>
          </a:p>
        </p:txBody>
      </p:sp>
      <p:graphicFrame>
        <p:nvGraphicFramePr>
          <p:cNvPr id="2111789538" name="Table 0"/>
          <p:cNvGraphicFramePr>
            <a:graphicFrameLocks xmlns:a="http://schemas.openxmlformats.org/drawingml/2006/main" noGrp="1"/>
          </p:cNvGraphicFramePr>
          <p:nvPr/>
        </p:nvGraphicFramePr>
        <p:xfrm rot="0">
          <a:off x="548640" y="1280160"/>
          <a:ext cx="11064240" cy="9144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194560"/>
                <a:gridCol w="2651760"/>
                <a:gridCol w="2743200"/>
                <a:gridCol w="3474720"/>
              </a:tblGrid>
              <a:tr h="77724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</a:rPr>
                        <a:t>Competitor group</a:t>
                      </a:r>
                      <a:endParaRPr lang="en-US" sz="14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</a:rPr>
                        <a:t>Their strength</a:t>
                      </a:r>
                      <a:endParaRPr lang="en-US" sz="14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</a:rPr>
                        <a:t>Their weakness</a:t>
                      </a:r>
                      <a:endParaRPr lang="en-US" sz="14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</a:rPr>
                        <a:t>How Ashapura wins</a:t>
                      </a:r>
                      <a:endParaRPr lang="en-US" sz="14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7724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 b="1">
                          <a:solidFill>
                            <a:schemeClr val="tx1"/>
                          </a:solidFill>
                        </a:rPr>
                        <a:t>Global SIs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Brand, C-suite and government access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Cost, speed, junior delivery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Mid-market focus; subcontract delivery to them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2"/>
                    </a:solidFill>
                  </a:tcPr>
                </a:tc>
              </a:tr>
              <a:tr h="77724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 b="1">
                          <a:solidFill>
                            <a:schemeClr val="tx1"/>
                          </a:solidFill>
                        </a:rPr>
                        <a:t>Regional specialists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References, Arabic, Salesforce AE ties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Premium pricing, capacity, Salesforce-only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Fixed-price packages, 72h proposals, multi-platform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 b="1">
                          <a:solidFill>
                            <a:schemeClr val="tx1"/>
                          </a:solidFill>
                        </a:rPr>
                        <a:t>Egypt/Levant delivery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Arabic at low cost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Narrow platform scope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Hire 1–2 Arabic consultants in-region; broader stack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2"/>
                    </a:solidFill>
                  </a:tcPr>
                </a:tc>
              </a:tr>
              <a:tr h="77724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 b="1">
                          <a:solidFill>
                            <a:schemeClr val="tx1"/>
                          </a:solidFill>
                        </a:rPr>
                        <a:t>Indian offshore peers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Lowest price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No local presence or references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Local face, KSA network, on-site workshops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 b="1">
                          <a:solidFill>
                            <a:schemeClr val="tx1"/>
                          </a:solidFill>
                        </a:rPr>
                        <a:t>Substitutes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Lower license cost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Platform-locked advice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chemeClr val="tx1"/>
                          </a:solidFill>
                        </a:rPr>
                        <a:t>Platform-agnostic: right tool, Zoho → Salesforce path</a:t>
                      </a:r>
                      <a:endParaRPr lang="en-US" sz="1300"/>
                    </a:p>
                  </a:txBody>
                  <a:tcPr marL="54864" marR="54864" marT="54864" marB="54864" anchor="ctr">
                    <a:lnL w="6350" algn="ctr">
                      <a:solidFill>
                        <a:srgbClr val="DCE7E5"/>
                      </a:solidFill>
                    </a:lnL>
                    <a:lnR w="6350" algn="ctr">
                      <a:solidFill>
                        <a:srgbClr val="DCE7E5"/>
                      </a:solidFill>
                    </a:lnR>
                    <a:lnT w="6350" algn="ctr">
                      <a:solidFill>
                        <a:srgbClr val="DCE7E5"/>
                      </a:solidFill>
                    </a:lnT>
                    <a:lnB w="6350" algn="ctr">
                      <a:solidFill>
                        <a:srgbClr val="DCE7E5"/>
                      </a:solidFill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1695250603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247120" y="635508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637603" name="Text 0"/>
          <p:cNvSpPr/>
          <p:nvPr>
            <p:ph type="title" idx="101" hasCustomPrompt="1"/>
          </p:nvPr>
        </p:nvSpPr>
        <p:spPr bwMode="auto">
          <a:xfrm>
            <a:off x="731520" y="27432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4000" b="1">
                <a:solidFill>
                  <a:schemeClr val="bg1"/>
                </a:solidFill>
              </a:rPr>
              <a:t>Go-to-market plan</a:t>
            </a:r>
            <a:endParaRPr lang="en-US" sz="4000"/>
          </a:p>
        </p:txBody>
      </p:sp>
      <p:sp>
        <p:nvSpPr>
          <p:cNvPr id="169876941" name="Text 0"/>
          <p:cNvSpPr/>
          <p:nvPr>
            <p:ph type="body" idx="102" hasCustomPrompt="1"/>
          </p:nvPr>
        </p:nvSpPr>
        <p:spPr bwMode="auto">
          <a:xfrm>
            <a:off x="731520" y="38404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/>
            </a:pPr>
            <a:r>
              <a:rPr lang="en-US" sz="2000">
                <a:solidFill>
                  <a:schemeClr val="accent2"/>
                </a:solidFill>
              </a:rPr>
              <a:t>Positioning, ICP, channels and offers</a:t>
            </a:r>
            <a:endParaRPr lang="en-US" sz="2000"/>
          </a:p>
        </p:txBody>
      </p:sp>
      <p:sp>
        <p:nvSpPr>
          <p:cNvPr id="766480292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247120" y="635508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6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3563285" name="Text 0"/>
          <p:cNvSpPr/>
          <p:nvPr>
            <p:ph type="title" idx="101" hasCustomPrompt="1"/>
          </p:nvPr>
        </p:nvSpPr>
        <p:spPr bwMode="auto">
          <a:xfrm>
            <a:off x="548640" y="32004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000" b="1">
                <a:solidFill>
                  <a:schemeClr val="accent1"/>
                </a:solidFill>
              </a:rPr>
              <a:t>Positioning: a local front with an offshore engine</a:t>
            </a:r>
            <a:endParaRPr lang="en-US" sz="3000"/>
          </a:p>
        </p:txBody>
      </p:sp>
      <p:sp>
        <p:nvSpPr>
          <p:cNvPr id="310346702" name="Shape 1"/>
          <p:cNvSpPr/>
          <p:nvPr/>
        </p:nvSpPr>
        <p:spPr bwMode="auto">
          <a:xfrm>
            <a:off x="548640" y="1371600"/>
            <a:ext cx="11064240" cy="1554480"/>
          </a:xfrm>
          <a:prstGeom prst="roundRect">
            <a:avLst>
              <a:gd name="adj" fmla="val 470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05496064" name="Text 2"/>
          <p:cNvSpPr txBox="1"/>
          <p:nvPr/>
        </p:nvSpPr>
        <p:spPr bwMode="auto">
          <a:xfrm>
            <a:off x="914400" y="1508759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100" i="1">
                <a:solidFill>
                  <a:schemeClr val="bg1"/>
                </a:solidFill>
                <a:latin typeface="Cambria"/>
                <a:ea typeface="Cambria"/>
                <a:cs typeface="Cambria"/>
              </a:rPr>
              <a:t>“The Salesforce-led, multi-platform CRM partner for GCC growth companies: local ownership, Arabic-ready, delivered at offshore speed and cost.”</a:t>
            </a:r>
            <a:endParaRPr lang="en-US" sz="2100"/>
          </a:p>
        </p:txBody>
      </p:sp>
      <p:sp>
        <p:nvSpPr>
          <p:cNvPr id="804199763" name="Shape 3"/>
          <p:cNvSpPr/>
          <p:nvPr/>
        </p:nvSpPr>
        <p:spPr bwMode="auto">
          <a:xfrm>
            <a:off x="548640" y="3291840"/>
            <a:ext cx="356616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0413164" name="Shape 4"/>
          <p:cNvSpPr/>
          <p:nvPr/>
        </p:nvSpPr>
        <p:spPr bwMode="auto">
          <a:xfrm>
            <a:off x="822960" y="356616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95383303" name="Text 5"/>
          <p:cNvSpPr txBox="1"/>
          <p:nvPr/>
        </p:nvSpPr>
        <p:spPr bwMode="auto">
          <a:xfrm>
            <a:off x="82296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accent1"/>
                </a:solidFill>
              </a:rPr>
              <a:t>1</a:t>
            </a:r>
            <a:endParaRPr lang="en-US" sz="1400"/>
          </a:p>
        </p:txBody>
      </p:sp>
      <p:sp>
        <p:nvSpPr>
          <p:cNvPr id="1658255637" name="Text 6"/>
          <p:cNvSpPr txBox="1"/>
          <p:nvPr/>
        </p:nvSpPr>
        <p:spPr bwMode="auto">
          <a:xfrm>
            <a:off x="822960" y="4206240"/>
            <a:ext cx="30175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000" b="1">
                <a:solidFill>
                  <a:schemeClr val="accent1"/>
                </a:solidFill>
              </a:rPr>
              <a:t>Local</a:t>
            </a:r>
            <a:endParaRPr lang="en-US" sz="2000"/>
          </a:p>
        </p:txBody>
      </p:sp>
      <p:sp>
        <p:nvSpPr>
          <p:cNvPr id="596915760" name="Text 7"/>
          <p:cNvSpPr txBox="1"/>
          <p:nvPr/>
        </p:nvSpPr>
        <p:spPr bwMode="auto">
          <a:xfrm>
            <a:off x="822960" y="4709160"/>
            <a:ext cx="301751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600">
                <a:solidFill>
                  <a:schemeClr val="tx1"/>
                </a:solidFill>
              </a:rPr>
              <a:t>Dubai-based, KSA network, face-to-face selling (how Saudi decision-makers buy), Arabic capability</a:t>
            </a:r>
            <a:endParaRPr lang="en-US" sz="1600"/>
          </a:p>
        </p:txBody>
      </p:sp>
      <p:sp>
        <p:nvSpPr>
          <p:cNvPr id="1100249149" name="Shape 8"/>
          <p:cNvSpPr/>
          <p:nvPr/>
        </p:nvSpPr>
        <p:spPr bwMode="auto">
          <a:xfrm>
            <a:off x="4297680" y="3291840"/>
            <a:ext cx="356616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2418504" name="Shape 9"/>
          <p:cNvSpPr/>
          <p:nvPr/>
        </p:nvSpPr>
        <p:spPr bwMode="auto">
          <a:xfrm>
            <a:off x="4572000" y="356616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20637272" name="Text 10"/>
          <p:cNvSpPr txBox="1"/>
          <p:nvPr/>
        </p:nvSpPr>
        <p:spPr bwMode="auto">
          <a:xfrm>
            <a:off x="457200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accent1"/>
                </a:solidFill>
              </a:rPr>
              <a:t>2</a:t>
            </a:r>
            <a:endParaRPr lang="en-US" sz="1400"/>
          </a:p>
        </p:txBody>
      </p:sp>
      <p:sp>
        <p:nvSpPr>
          <p:cNvPr id="1569229642" name="Text 11"/>
          <p:cNvSpPr txBox="1"/>
          <p:nvPr/>
        </p:nvSpPr>
        <p:spPr bwMode="auto">
          <a:xfrm>
            <a:off x="4572000" y="4206240"/>
            <a:ext cx="30175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000" b="1">
                <a:solidFill>
                  <a:schemeClr val="accent1"/>
                </a:solidFill>
              </a:rPr>
              <a:t>Multi-platform</a:t>
            </a:r>
            <a:endParaRPr lang="en-US" sz="2000"/>
          </a:p>
        </p:txBody>
      </p:sp>
      <p:sp>
        <p:nvSpPr>
          <p:cNvPr id="233899376" name="Text 12"/>
          <p:cNvSpPr txBox="1"/>
          <p:nvPr/>
        </p:nvSpPr>
        <p:spPr bwMode="auto">
          <a:xfrm>
            <a:off x="4572000" y="4709160"/>
            <a:ext cx="301751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600">
                <a:solidFill>
                  <a:schemeClr val="tx1"/>
                </a:solidFill>
              </a:rPr>
              <a:t>Salesforce 70% · Zoho 20% · Odoo / Microsoft 10%. The right fit, every time</a:t>
            </a:r>
            <a:endParaRPr lang="en-US" sz="1600"/>
          </a:p>
        </p:txBody>
      </p:sp>
      <p:sp>
        <p:nvSpPr>
          <p:cNvPr id="2120490168" name="Shape 13"/>
          <p:cNvSpPr/>
          <p:nvPr/>
        </p:nvSpPr>
        <p:spPr bwMode="auto">
          <a:xfrm>
            <a:off x="8046720" y="3291840"/>
            <a:ext cx="356616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3306400" name="Shape 14"/>
          <p:cNvSpPr/>
          <p:nvPr/>
        </p:nvSpPr>
        <p:spPr bwMode="auto">
          <a:xfrm>
            <a:off x="8321039" y="356616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03004137" name="Text 15"/>
          <p:cNvSpPr txBox="1"/>
          <p:nvPr/>
        </p:nvSpPr>
        <p:spPr bwMode="auto">
          <a:xfrm>
            <a:off x="8321039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accent1"/>
                </a:solidFill>
              </a:rPr>
              <a:t>3</a:t>
            </a:r>
            <a:endParaRPr lang="en-US" sz="1400"/>
          </a:p>
        </p:txBody>
      </p:sp>
      <p:sp>
        <p:nvSpPr>
          <p:cNvPr id="1835873529" name="Text 16"/>
          <p:cNvSpPr txBox="1"/>
          <p:nvPr/>
        </p:nvSpPr>
        <p:spPr bwMode="auto">
          <a:xfrm>
            <a:off x="8321039" y="4206240"/>
            <a:ext cx="30175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000" b="1">
                <a:solidFill>
                  <a:schemeClr val="accent1"/>
                </a:solidFill>
              </a:rPr>
              <a:t>Value</a:t>
            </a:r>
            <a:endParaRPr lang="en-US" sz="2000"/>
          </a:p>
        </p:txBody>
      </p:sp>
      <p:sp>
        <p:nvSpPr>
          <p:cNvPr id="1029132117" name="Text 17"/>
          <p:cNvSpPr txBox="1"/>
          <p:nvPr/>
        </p:nvSpPr>
        <p:spPr bwMode="auto">
          <a:xfrm>
            <a:off x="8321039" y="4709160"/>
            <a:ext cx="301751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600">
                <a:solidFill>
                  <a:schemeClr val="tx1"/>
                </a:solidFill>
              </a:rPr>
              <a:t>Fixed-price packages, offshore cost, 6–8 week QuickStarts</a:t>
            </a:r>
            <a:endParaRPr lang="en-US" sz="1600"/>
          </a:p>
        </p:txBody>
      </p:sp>
      <p:sp>
        <p:nvSpPr>
          <p:cNvPr id="1766066958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247120" y="635508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7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996760" name="Text 0"/>
          <p:cNvSpPr/>
          <p:nvPr>
            <p:ph type="title" idx="101" hasCustomPrompt="1"/>
          </p:nvPr>
        </p:nvSpPr>
        <p:spPr bwMode="auto">
          <a:xfrm>
            <a:off x="548640" y="32004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000" b="1">
                <a:solidFill>
                  <a:schemeClr val="accent1"/>
                </a:solidFill>
              </a:rPr>
              <a:t>Ideal customer profile and buying signals</a:t>
            </a:r>
            <a:endParaRPr lang="en-US" sz="3000"/>
          </a:p>
        </p:txBody>
      </p:sp>
      <p:sp>
        <p:nvSpPr>
          <p:cNvPr id="1154126236" name="Shape 1"/>
          <p:cNvSpPr/>
          <p:nvPr/>
        </p:nvSpPr>
        <p:spPr bwMode="auto">
          <a:xfrm>
            <a:off x="548640" y="1371600"/>
            <a:ext cx="2606040" cy="46634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43506294" name="Text 2"/>
          <p:cNvSpPr txBox="1"/>
          <p:nvPr/>
        </p:nvSpPr>
        <p:spPr bwMode="auto">
          <a:xfrm>
            <a:off x="777240" y="16002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000" b="1">
                <a:solidFill>
                  <a:schemeClr val="accent1"/>
                </a:solidFill>
              </a:rPr>
              <a:t>Who</a:t>
            </a:r>
            <a:endParaRPr lang="en-US" sz="2000"/>
          </a:p>
        </p:txBody>
      </p:sp>
      <p:sp>
        <p:nvSpPr>
          <p:cNvPr id="1766958449" name="Text 3"/>
          <p:cNvSpPr txBox="1"/>
          <p:nvPr/>
        </p:nvSpPr>
        <p:spPr bwMode="auto">
          <a:xfrm>
            <a:off x="777240" y="2194560"/>
            <a:ext cx="21945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GCC companies with 100–2,000 employees</a:t>
            </a:r>
            <a:endParaRPr lang="en-US" sz="16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The six priority verticals</a:t>
            </a:r>
            <a:endParaRPr lang="en-US" sz="16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UAE and KSA first, then Qatar</a:t>
            </a:r>
            <a:endParaRPr lang="en-US" sz="1600"/>
          </a:p>
        </p:txBody>
      </p:sp>
      <p:sp>
        <p:nvSpPr>
          <p:cNvPr id="312978992" name="Shape 4"/>
          <p:cNvSpPr/>
          <p:nvPr/>
        </p:nvSpPr>
        <p:spPr bwMode="auto">
          <a:xfrm>
            <a:off x="3337560" y="1371600"/>
            <a:ext cx="2606040" cy="46634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85847176" name="Text 5"/>
          <p:cNvSpPr txBox="1"/>
          <p:nvPr/>
        </p:nvSpPr>
        <p:spPr bwMode="auto">
          <a:xfrm>
            <a:off x="3566160" y="16002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000" b="1">
                <a:solidFill>
                  <a:schemeClr val="accent1"/>
                </a:solidFill>
              </a:rPr>
              <a:t>Segments</a:t>
            </a:r>
            <a:endParaRPr lang="en-US" sz="2000"/>
          </a:p>
        </p:txBody>
      </p:sp>
      <p:sp>
        <p:nvSpPr>
          <p:cNvPr id="473400321" name="Text 6"/>
          <p:cNvSpPr txBox="1"/>
          <p:nvPr/>
        </p:nvSpPr>
        <p:spPr bwMode="auto">
          <a:xfrm>
            <a:off x="3566160" y="2194560"/>
            <a:ext cx="21945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On Salesforce, under-using it: rescue / AMS / AI</a:t>
            </a:r>
            <a:endParaRPr lang="en-US" sz="16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On Zoho, Dynamics or legacy and scaling</a:t>
            </a:r>
            <a:endParaRPr lang="en-US" sz="16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Greenfield: new entities, RHQs, giga-project suppliers</a:t>
            </a:r>
            <a:endParaRPr lang="en-US" sz="1600"/>
          </a:p>
        </p:txBody>
      </p:sp>
      <p:sp>
        <p:nvSpPr>
          <p:cNvPr id="748975734" name="Shape 7"/>
          <p:cNvSpPr/>
          <p:nvPr/>
        </p:nvSpPr>
        <p:spPr bwMode="auto">
          <a:xfrm>
            <a:off x="6126480" y="1371600"/>
            <a:ext cx="2606040" cy="46634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98908280" name="Text 8"/>
          <p:cNvSpPr txBox="1"/>
          <p:nvPr/>
        </p:nvSpPr>
        <p:spPr bwMode="auto">
          <a:xfrm>
            <a:off x="6355080" y="16002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000" b="1">
                <a:solidFill>
                  <a:schemeClr val="accent1"/>
                </a:solidFill>
              </a:rPr>
              <a:t>Personas</a:t>
            </a:r>
            <a:endParaRPr lang="en-US" sz="2000"/>
          </a:p>
        </p:txBody>
      </p:sp>
      <p:sp>
        <p:nvSpPr>
          <p:cNvPr id="1621694233" name="Text 9"/>
          <p:cNvSpPr txBox="1"/>
          <p:nvPr/>
        </p:nvSpPr>
        <p:spPr bwMode="auto">
          <a:xfrm>
            <a:off x="6355080" y="2194560"/>
            <a:ext cx="21945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CIO / CTO / CDO</a:t>
            </a:r>
            <a:endParaRPr lang="en-US" sz="16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Head of Sales, Customer Experience or Marketing</a:t>
            </a:r>
            <a:endParaRPr lang="en-US" sz="16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CFO (ZATCA, cost), owner / GM of family groups</a:t>
            </a:r>
            <a:endParaRPr lang="en-US" sz="1600"/>
          </a:p>
        </p:txBody>
      </p:sp>
      <p:sp>
        <p:nvSpPr>
          <p:cNvPr id="1013436875" name="Shape 10"/>
          <p:cNvSpPr/>
          <p:nvPr/>
        </p:nvSpPr>
        <p:spPr bwMode="auto">
          <a:xfrm>
            <a:off x="8915400" y="1371600"/>
            <a:ext cx="2606040" cy="46634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43244181" name="Text 11"/>
          <p:cNvSpPr txBox="1"/>
          <p:nvPr/>
        </p:nvSpPr>
        <p:spPr bwMode="auto">
          <a:xfrm>
            <a:off x="9144000" y="16002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000" b="1">
                <a:solidFill>
                  <a:schemeClr val="accent1"/>
                </a:solidFill>
              </a:rPr>
              <a:t>Signals</a:t>
            </a:r>
            <a:endParaRPr lang="en-US" sz="2000"/>
          </a:p>
        </p:txBody>
      </p:sp>
      <p:sp>
        <p:nvSpPr>
          <p:cNvPr id="124899277" name="Text 12"/>
          <p:cNvSpPr txBox="1"/>
          <p:nvPr/>
        </p:nvSpPr>
        <p:spPr bwMode="auto">
          <a:xfrm>
            <a:off x="9144000" y="2194560"/>
            <a:ext cx="21945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Hiring Salesforce admins or developers</a:t>
            </a:r>
            <a:endParaRPr lang="en-US" sz="16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KSA expansion or RHQ licence, funding</a:t>
            </a:r>
            <a:endParaRPr lang="en-US" sz="16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New CX leadership; Etimad tenders</a:t>
            </a:r>
            <a:endParaRPr lang="en-US" sz="1600"/>
          </a:p>
        </p:txBody>
      </p:sp>
      <p:sp>
        <p:nvSpPr>
          <p:cNvPr id="807141912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247120" y="635508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8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7731163" name="Text 0"/>
          <p:cNvSpPr/>
          <p:nvPr>
            <p:ph type="title" idx="101" hasCustomPrompt="1"/>
          </p:nvPr>
        </p:nvSpPr>
        <p:spPr bwMode="auto">
          <a:xfrm>
            <a:off x="548640" y="32004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000" b="1">
                <a:solidFill>
                  <a:schemeClr val="accent1"/>
                </a:solidFill>
              </a:rPr>
              <a:t>Channel strategy, in order of leverage</a:t>
            </a:r>
            <a:endParaRPr lang="en-US" sz="3000"/>
          </a:p>
        </p:txBody>
      </p:sp>
      <p:sp>
        <p:nvSpPr>
          <p:cNvPr id="393305719" name="Shape 1"/>
          <p:cNvSpPr/>
          <p:nvPr/>
        </p:nvSpPr>
        <p:spPr bwMode="auto"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67793978" name="Text 2"/>
          <p:cNvSpPr txBox="1"/>
          <p:nvPr/>
        </p:nvSpPr>
        <p:spPr bwMode="auto"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accent1"/>
                </a:solidFill>
              </a:rPr>
              <a:t>1</a:t>
            </a:r>
            <a:endParaRPr lang="en-US" sz="1400"/>
          </a:p>
        </p:txBody>
      </p:sp>
      <p:sp>
        <p:nvSpPr>
          <p:cNvPr id="455209911" name="Text 3"/>
          <p:cNvSpPr txBox="1"/>
          <p:nvPr/>
        </p:nvSpPr>
        <p:spPr bwMode="auto">
          <a:xfrm>
            <a:off x="1280160" y="13716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700" b="1">
                <a:solidFill>
                  <a:schemeClr val="accent1"/>
                </a:solidFill>
              </a:rPr>
              <a:t>Salesforce co-sell</a:t>
            </a:r>
            <a:endParaRPr lang="en-US" sz="1700"/>
          </a:p>
        </p:txBody>
      </p:sp>
      <p:sp>
        <p:nvSpPr>
          <p:cNvPr id="408078955" name="Text 4"/>
          <p:cNvSpPr txBox="1"/>
          <p:nvPr/>
        </p:nvSpPr>
        <p:spPr bwMode="auto">
          <a:xfrm>
            <a:off x="4114800" y="137160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tx1"/>
                </a:solidFill>
              </a:rPr>
              <a:t>Partner Account Managers and AEs in Dubai and Riyadh hand implementation work to trusted partners</a:t>
            </a:r>
            <a:endParaRPr lang="en-US" sz="1400"/>
          </a:p>
        </p:txBody>
      </p:sp>
      <p:sp>
        <p:nvSpPr>
          <p:cNvPr id="712516179" name="Shape 5"/>
          <p:cNvSpPr/>
          <p:nvPr/>
        </p:nvSpPr>
        <p:spPr bwMode="auto">
          <a:xfrm>
            <a:off x="548640" y="2194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60509893" name="Text 6"/>
          <p:cNvSpPr txBox="1"/>
          <p:nvPr/>
        </p:nvSpPr>
        <p:spPr bwMode="auto">
          <a:xfrm>
            <a:off x="54864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accent1"/>
                </a:solidFill>
              </a:rPr>
              <a:t>2</a:t>
            </a:r>
            <a:endParaRPr lang="en-US" sz="1400"/>
          </a:p>
        </p:txBody>
      </p:sp>
      <p:sp>
        <p:nvSpPr>
          <p:cNvPr id="2093197051" name="Text 7"/>
          <p:cNvSpPr txBox="1"/>
          <p:nvPr/>
        </p:nvSpPr>
        <p:spPr bwMode="auto">
          <a:xfrm>
            <a:off x="1280160" y="21945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700" b="1">
                <a:solidFill>
                  <a:schemeClr val="accent1"/>
                </a:solidFill>
              </a:rPr>
              <a:t>Personal network</a:t>
            </a:r>
            <a:endParaRPr lang="en-US" sz="1700"/>
          </a:p>
        </p:txBody>
      </p:sp>
      <p:sp>
        <p:nvSpPr>
          <p:cNvPr id="1990782682" name="Text 8"/>
          <p:cNvSpPr txBox="1"/>
          <p:nvPr/>
        </p:nvSpPr>
        <p:spPr bwMode="auto">
          <a:xfrm>
            <a:off x="4114800" y="219456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tx1"/>
                </a:solidFill>
              </a:rPr>
              <a:t>Warm intros in KSA and UAE: automotive, real estate, ERP / Odoo contacts</a:t>
            </a:r>
            <a:endParaRPr lang="en-US" sz="1400"/>
          </a:p>
        </p:txBody>
      </p:sp>
      <p:sp>
        <p:nvSpPr>
          <p:cNvPr id="1913462800" name="Shape 9"/>
          <p:cNvSpPr/>
          <p:nvPr/>
        </p:nvSpPr>
        <p:spPr bwMode="auto">
          <a:xfrm>
            <a:off x="548640" y="3017519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21601331" name="Text 10"/>
          <p:cNvSpPr txBox="1"/>
          <p:nvPr/>
        </p:nvSpPr>
        <p:spPr bwMode="auto">
          <a:xfrm>
            <a:off x="548640" y="3017519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accent1"/>
                </a:solidFill>
              </a:rPr>
              <a:t>3</a:t>
            </a:r>
            <a:endParaRPr lang="en-US" sz="1400"/>
          </a:p>
        </p:txBody>
      </p:sp>
      <p:sp>
        <p:nvSpPr>
          <p:cNvPr id="804500261" name="Text 11"/>
          <p:cNvSpPr txBox="1"/>
          <p:nvPr/>
        </p:nvSpPr>
        <p:spPr bwMode="auto">
          <a:xfrm>
            <a:off x="1280160" y="3017519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700" b="1">
                <a:solidFill>
                  <a:schemeClr val="accent1"/>
                </a:solidFill>
              </a:rPr>
              <a:t>Outbound engine</a:t>
            </a:r>
            <a:endParaRPr lang="en-US" sz="1700"/>
          </a:p>
        </p:txBody>
      </p:sp>
      <p:sp>
        <p:nvSpPr>
          <p:cNvPr id="1456756285" name="Text 12"/>
          <p:cNvSpPr txBox="1"/>
          <p:nvPr/>
        </p:nvSpPr>
        <p:spPr bwMode="auto">
          <a:xfrm>
            <a:off x="4114800" y="3017519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tx1"/>
                </a:solidFill>
              </a:rPr>
              <a:t>Signal-based prospecting with Sales Navigator and Lusha, plus multi-touch sequences</a:t>
            </a:r>
            <a:endParaRPr lang="en-US" sz="1400"/>
          </a:p>
        </p:txBody>
      </p:sp>
      <p:sp>
        <p:nvSpPr>
          <p:cNvPr id="2057185202" name="Shape 13"/>
          <p:cNvSpPr/>
          <p:nvPr/>
        </p:nvSpPr>
        <p:spPr bwMode="auto">
          <a:xfrm>
            <a:off x="548640" y="38404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49537088" name="Text 14"/>
          <p:cNvSpPr txBox="1"/>
          <p:nvPr/>
        </p:nvSpPr>
        <p:spPr bwMode="auto"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accent1"/>
                </a:solidFill>
              </a:rPr>
              <a:t>4</a:t>
            </a:r>
            <a:endParaRPr lang="en-US" sz="1400"/>
          </a:p>
        </p:txBody>
      </p:sp>
      <p:sp>
        <p:nvSpPr>
          <p:cNvPr id="1000998313" name="Text 15"/>
          <p:cNvSpPr txBox="1"/>
          <p:nvPr/>
        </p:nvSpPr>
        <p:spPr bwMode="auto">
          <a:xfrm>
            <a:off x="1280160" y="38404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700" b="1">
                <a:solidFill>
                  <a:schemeClr val="accent1"/>
                </a:solidFill>
              </a:rPr>
              <a:t>Events</a:t>
            </a:r>
            <a:endParaRPr lang="en-US" sz="1700"/>
          </a:p>
        </p:txBody>
      </p:sp>
      <p:sp>
        <p:nvSpPr>
          <p:cNvPr id="277478885" name="Text 16"/>
          <p:cNvSpPr txBox="1"/>
          <p:nvPr/>
        </p:nvSpPr>
        <p:spPr bwMode="auto">
          <a:xfrm>
            <a:off x="4114800" y="38404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tx1"/>
                </a:solidFill>
              </a:rPr>
              <a:t>GITEX (Dubai, Oct), LEAP (Riyadh, Feb), Big 5 Saudi (real estate), Salesforce World Tour, Cityscape</a:t>
            </a:r>
            <a:endParaRPr lang="en-US" sz="1400"/>
          </a:p>
        </p:txBody>
      </p:sp>
      <p:sp>
        <p:nvSpPr>
          <p:cNvPr id="626502570" name="Shape 17"/>
          <p:cNvSpPr/>
          <p:nvPr/>
        </p:nvSpPr>
        <p:spPr bwMode="auto">
          <a:xfrm>
            <a:off x="548640" y="46634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3682019" name="Text 18"/>
          <p:cNvSpPr txBox="1"/>
          <p:nvPr/>
        </p:nvSpPr>
        <p:spPr bwMode="auto">
          <a:xfrm>
            <a:off x="548640" y="4663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accent1"/>
                </a:solidFill>
              </a:rPr>
              <a:t>5</a:t>
            </a:r>
            <a:endParaRPr lang="en-US" sz="1400"/>
          </a:p>
        </p:txBody>
      </p:sp>
      <p:sp>
        <p:nvSpPr>
          <p:cNvPr id="1120245550" name="Text 19"/>
          <p:cNvSpPr txBox="1"/>
          <p:nvPr/>
        </p:nvSpPr>
        <p:spPr bwMode="auto">
          <a:xfrm>
            <a:off x="1280160" y="46634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700" b="1">
                <a:solidFill>
                  <a:schemeClr val="accent1"/>
                </a:solidFill>
              </a:rPr>
              <a:t>Alliances</a:t>
            </a:r>
            <a:endParaRPr lang="en-US" sz="1700"/>
          </a:p>
        </p:txBody>
      </p:sp>
      <p:sp>
        <p:nvSpPr>
          <p:cNvPr id="1744181070" name="Text 20"/>
          <p:cNvSpPr txBox="1"/>
          <p:nvPr/>
        </p:nvSpPr>
        <p:spPr bwMode="auto">
          <a:xfrm>
            <a:off x="4114800" y="4663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tx1"/>
                </a:solidFill>
              </a:rPr>
              <a:t>WhatsApp/CPaaS providers, ERP partners, ISVs, Global SIs for subcontracting</a:t>
            </a:r>
            <a:endParaRPr lang="en-US" sz="1400"/>
          </a:p>
        </p:txBody>
      </p:sp>
      <p:sp>
        <p:nvSpPr>
          <p:cNvPr id="1841189781" name="Shape 21"/>
          <p:cNvSpPr/>
          <p:nvPr/>
        </p:nvSpPr>
        <p:spPr bwMode="auto">
          <a:xfrm>
            <a:off x="548640" y="54864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48807650" name="Text 22"/>
          <p:cNvSpPr txBox="1"/>
          <p:nvPr/>
        </p:nvSpPr>
        <p:spPr bwMode="auto">
          <a:xfrm>
            <a:off x="548640" y="5486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accent1"/>
                </a:solidFill>
              </a:rPr>
              <a:t>6</a:t>
            </a:r>
            <a:endParaRPr lang="en-US" sz="1400"/>
          </a:p>
        </p:txBody>
      </p:sp>
      <p:sp>
        <p:nvSpPr>
          <p:cNvPr id="1409625918" name="Text 23"/>
          <p:cNvSpPr txBox="1"/>
          <p:nvPr/>
        </p:nvSpPr>
        <p:spPr bwMode="auto">
          <a:xfrm>
            <a:off x="1280160" y="54864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700" b="1">
                <a:solidFill>
                  <a:schemeClr val="accent1"/>
                </a:solidFill>
              </a:rPr>
              <a:t>Content</a:t>
            </a:r>
            <a:endParaRPr lang="en-US" sz="1700"/>
          </a:p>
        </p:txBody>
      </p:sp>
      <p:sp>
        <p:nvSpPr>
          <p:cNvPr id="278394496" name="Text 24"/>
          <p:cNvSpPr txBox="1"/>
          <p:nvPr/>
        </p:nvSpPr>
        <p:spPr bwMode="auto">
          <a:xfrm>
            <a:off x="4114800" y="548640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tx1"/>
                </a:solidFill>
              </a:rPr>
              <a:t>Arabic + English LinkedIn content, GCC playbooks (ZATCA, WhatsApp, Agentforce)</a:t>
            </a:r>
            <a:endParaRPr lang="en-US" sz="1400"/>
          </a:p>
        </p:txBody>
      </p:sp>
      <p:sp>
        <p:nvSpPr>
          <p:cNvPr id="1403952017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247120" y="635508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9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82947" name="Text 0"/>
          <p:cNvSpPr/>
          <p:nvPr>
            <p:ph type="title" idx="101" hasCustomPrompt="1"/>
          </p:nvPr>
        </p:nvSpPr>
        <p:spPr bwMode="auto">
          <a:xfrm>
            <a:off x="548640" y="32004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000" b="1">
                <a:solidFill>
                  <a:schemeClr val="accent1"/>
                </a:solidFill>
              </a:rPr>
              <a:t>Entry offers: packaged wedges to shorten the first sale</a:t>
            </a:r>
            <a:endParaRPr lang="en-US" sz="3000"/>
          </a:p>
        </p:txBody>
      </p:sp>
      <p:sp>
        <p:nvSpPr>
          <p:cNvPr id="2001355908" name="Shape 1"/>
          <p:cNvSpPr/>
          <p:nvPr/>
        </p:nvSpPr>
        <p:spPr bwMode="auto">
          <a:xfrm>
            <a:off x="548640" y="1371600"/>
            <a:ext cx="2103120" cy="457200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22401948" name="Shape 2"/>
          <p:cNvSpPr/>
          <p:nvPr/>
        </p:nvSpPr>
        <p:spPr bwMode="auto">
          <a:xfrm>
            <a:off x="777240" y="16002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35074375" name="Text 3"/>
          <p:cNvSpPr txBox="1"/>
          <p:nvPr/>
        </p:nvSpPr>
        <p:spPr bwMode="auto">
          <a:xfrm>
            <a:off x="77724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accent1"/>
                </a:solidFill>
              </a:rPr>
              <a:t>1</a:t>
            </a:r>
            <a:endParaRPr lang="en-US" sz="1400"/>
          </a:p>
        </p:txBody>
      </p:sp>
      <p:sp>
        <p:nvSpPr>
          <p:cNvPr id="560862365" name="Text 4"/>
          <p:cNvSpPr txBox="1"/>
          <p:nvPr/>
        </p:nvSpPr>
        <p:spPr bwMode="auto">
          <a:xfrm>
            <a:off x="777240" y="224028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700" b="1">
                <a:solidFill>
                  <a:schemeClr val="accent1"/>
                </a:solidFill>
              </a:rPr>
              <a:t>Org Health Check</a:t>
            </a:r>
            <a:endParaRPr lang="en-US" sz="1700"/>
          </a:p>
        </p:txBody>
      </p:sp>
      <p:sp>
        <p:nvSpPr>
          <p:cNvPr id="1419228461" name="Text 5"/>
          <p:cNvSpPr txBox="1"/>
          <p:nvPr/>
        </p:nvSpPr>
        <p:spPr bwMode="auto">
          <a:xfrm>
            <a:off x="777240" y="31089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accent3"/>
                </a:solidFill>
              </a:rPr>
              <a:t>2 weeks · free or low cost</a:t>
            </a:r>
            <a:endParaRPr lang="en-US" sz="1300"/>
          </a:p>
        </p:txBody>
      </p:sp>
      <p:sp>
        <p:nvSpPr>
          <p:cNvPr id="2090898343" name="Text 6"/>
          <p:cNvSpPr txBox="1"/>
          <p:nvPr/>
        </p:nvSpPr>
        <p:spPr bwMode="auto">
          <a:xfrm>
            <a:off x="777240" y="37947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500">
                <a:solidFill>
                  <a:schemeClr val="tx1"/>
                </a:solidFill>
              </a:rPr>
              <a:t>Opens doors at existing Salesforce customers; leads to rescue and AMS</a:t>
            </a:r>
            <a:endParaRPr lang="en-US" sz="1500"/>
          </a:p>
        </p:txBody>
      </p:sp>
      <p:sp>
        <p:nvSpPr>
          <p:cNvPr id="916069023" name="Shape 7"/>
          <p:cNvSpPr/>
          <p:nvPr/>
        </p:nvSpPr>
        <p:spPr bwMode="auto">
          <a:xfrm>
            <a:off x="2779776" y="1371600"/>
            <a:ext cx="2103120" cy="457200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94817249" name="Shape 8"/>
          <p:cNvSpPr/>
          <p:nvPr/>
        </p:nvSpPr>
        <p:spPr bwMode="auto">
          <a:xfrm>
            <a:off x="3008376" y="16002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36215297" name="Text 9"/>
          <p:cNvSpPr txBox="1"/>
          <p:nvPr/>
        </p:nvSpPr>
        <p:spPr bwMode="auto">
          <a:xfrm>
            <a:off x="3008376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accent1"/>
                </a:solidFill>
              </a:rPr>
              <a:t>2</a:t>
            </a:r>
            <a:endParaRPr lang="en-US" sz="1400"/>
          </a:p>
        </p:txBody>
      </p:sp>
      <p:sp>
        <p:nvSpPr>
          <p:cNvPr id="206071633" name="Text 10"/>
          <p:cNvSpPr txBox="1"/>
          <p:nvPr/>
        </p:nvSpPr>
        <p:spPr bwMode="auto">
          <a:xfrm>
            <a:off x="3008376" y="224028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700" b="1">
                <a:solidFill>
                  <a:schemeClr val="accent1"/>
                </a:solidFill>
              </a:rPr>
              <a:t>Vertical QuickStart</a:t>
            </a:r>
            <a:endParaRPr lang="en-US" sz="1700"/>
          </a:p>
        </p:txBody>
      </p:sp>
      <p:sp>
        <p:nvSpPr>
          <p:cNvPr id="1784953896" name="Text 11"/>
          <p:cNvSpPr txBox="1"/>
          <p:nvPr/>
        </p:nvSpPr>
        <p:spPr bwMode="auto">
          <a:xfrm>
            <a:off x="3008376" y="31089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accent3"/>
                </a:solidFill>
              </a:rPr>
              <a:t>6–8 weeks · fixed price</a:t>
            </a:r>
            <a:endParaRPr lang="en-US" sz="1300"/>
          </a:p>
        </p:txBody>
      </p:sp>
      <p:sp>
        <p:nvSpPr>
          <p:cNvPr id="1709817952" name="Text 12"/>
          <p:cNvSpPr txBox="1"/>
          <p:nvPr/>
        </p:nvSpPr>
        <p:spPr bwMode="auto">
          <a:xfrm>
            <a:off x="3008376" y="37947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500">
                <a:solidFill>
                  <a:schemeClr val="tx1"/>
                </a:solidFill>
              </a:rPr>
              <a:t>Real estate CRM or dealer CRM on Sales and Service Cloud</a:t>
            </a:r>
            <a:endParaRPr lang="en-US" sz="1500"/>
          </a:p>
        </p:txBody>
      </p:sp>
      <p:sp>
        <p:nvSpPr>
          <p:cNvPr id="1983272218" name="Shape 13"/>
          <p:cNvSpPr/>
          <p:nvPr/>
        </p:nvSpPr>
        <p:spPr bwMode="auto">
          <a:xfrm>
            <a:off x="5010912" y="1371600"/>
            <a:ext cx="2103120" cy="457200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47723109" name="Shape 14"/>
          <p:cNvSpPr/>
          <p:nvPr/>
        </p:nvSpPr>
        <p:spPr bwMode="auto">
          <a:xfrm>
            <a:off x="5239512" y="16002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24305772" name="Text 15"/>
          <p:cNvSpPr txBox="1"/>
          <p:nvPr/>
        </p:nvSpPr>
        <p:spPr bwMode="auto">
          <a:xfrm>
            <a:off x="5239512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accent1"/>
                </a:solidFill>
              </a:rPr>
              <a:t>3</a:t>
            </a:r>
            <a:endParaRPr lang="en-US" sz="1400"/>
          </a:p>
        </p:txBody>
      </p:sp>
      <p:sp>
        <p:nvSpPr>
          <p:cNvPr id="162365566" name="Text 16"/>
          <p:cNvSpPr txBox="1"/>
          <p:nvPr/>
        </p:nvSpPr>
        <p:spPr bwMode="auto">
          <a:xfrm>
            <a:off x="5239512" y="224028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700" b="1">
                <a:solidFill>
                  <a:schemeClr val="accent1"/>
                </a:solidFill>
              </a:rPr>
              <a:t>Zoho → Salesforce</a:t>
            </a:r>
            <a:endParaRPr lang="en-US" sz="1700"/>
          </a:p>
        </p:txBody>
      </p:sp>
      <p:sp>
        <p:nvSpPr>
          <p:cNvPr id="1679783306" name="Text 17"/>
          <p:cNvSpPr txBox="1"/>
          <p:nvPr/>
        </p:nvSpPr>
        <p:spPr bwMode="auto">
          <a:xfrm>
            <a:off x="5239512" y="31089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accent3"/>
                </a:solidFill>
              </a:rPr>
              <a:t>Migration package</a:t>
            </a:r>
            <a:endParaRPr lang="en-US" sz="1300"/>
          </a:p>
        </p:txBody>
      </p:sp>
      <p:sp>
        <p:nvSpPr>
          <p:cNvPr id="986926324" name="Text 18"/>
          <p:cNvSpPr txBox="1"/>
          <p:nvPr/>
        </p:nvSpPr>
        <p:spPr bwMode="auto">
          <a:xfrm>
            <a:off x="5239512" y="37947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500">
                <a:solidFill>
                  <a:schemeClr val="tx1"/>
                </a:solidFill>
              </a:rPr>
              <a:t>For scale-ups outgrowing Zoho; our multi-platform edge</a:t>
            </a:r>
            <a:endParaRPr lang="en-US" sz="1500"/>
          </a:p>
        </p:txBody>
      </p:sp>
      <p:sp>
        <p:nvSpPr>
          <p:cNvPr id="189902519" name="Shape 19"/>
          <p:cNvSpPr/>
          <p:nvPr/>
        </p:nvSpPr>
        <p:spPr bwMode="auto">
          <a:xfrm>
            <a:off x="7242048" y="1371600"/>
            <a:ext cx="2103120" cy="457200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54179865" name="Shape 20"/>
          <p:cNvSpPr/>
          <p:nvPr/>
        </p:nvSpPr>
        <p:spPr bwMode="auto">
          <a:xfrm>
            <a:off x="7470648" y="16002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03356508" name="Text 21"/>
          <p:cNvSpPr txBox="1"/>
          <p:nvPr/>
        </p:nvSpPr>
        <p:spPr bwMode="auto">
          <a:xfrm>
            <a:off x="7470648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accent1"/>
                </a:solidFill>
              </a:rPr>
              <a:t>4</a:t>
            </a:r>
            <a:endParaRPr lang="en-US" sz="1400"/>
          </a:p>
        </p:txBody>
      </p:sp>
      <p:sp>
        <p:nvSpPr>
          <p:cNvPr id="1550919331" name="Text 22"/>
          <p:cNvSpPr txBox="1"/>
          <p:nvPr/>
        </p:nvSpPr>
        <p:spPr bwMode="auto">
          <a:xfrm>
            <a:off x="7470648" y="224028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700" b="1">
                <a:solidFill>
                  <a:schemeClr val="accent1"/>
                </a:solidFill>
              </a:rPr>
              <a:t>Agentforce Pilot</a:t>
            </a:r>
            <a:endParaRPr lang="en-US" sz="1700"/>
          </a:p>
        </p:txBody>
      </p:sp>
      <p:sp>
        <p:nvSpPr>
          <p:cNvPr id="570065688" name="Text 23"/>
          <p:cNvSpPr txBox="1"/>
          <p:nvPr/>
        </p:nvSpPr>
        <p:spPr bwMode="auto">
          <a:xfrm>
            <a:off x="7470648" y="31089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accent3"/>
                </a:solidFill>
              </a:rPr>
              <a:t>4-week proof of concept</a:t>
            </a:r>
            <a:endParaRPr lang="en-US" sz="1300"/>
          </a:p>
        </p:txBody>
      </p:sp>
      <p:sp>
        <p:nvSpPr>
          <p:cNvPr id="460437047" name="Text 24"/>
          <p:cNvSpPr txBox="1"/>
          <p:nvPr/>
        </p:nvSpPr>
        <p:spPr bwMode="auto">
          <a:xfrm>
            <a:off x="7470648" y="37947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500">
                <a:solidFill>
                  <a:schemeClr val="tx1"/>
                </a:solidFill>
              </a:rPr>
              <a:t>One AI use case, built on clean data</a:t>
            </a:r>
            <a:endParaRPr lang="en-US" sz="1500"/>
          </a:p>
        </p:txBody>
      </p:sp>
      <p:sp>
        <p:nvSpPr>
          <p:cNvPr id="370958498" name="Shape 25"/>
          <p:cNvSpPr/>
          <p:nvPr/>
        </p:nvSpPr>
        <p:spPr bwMode="auto">
          <a:xfrm>
            <a:off x="9473184" y="1371600"/>
            <a:ext cx="2103120" cy="457200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47422852" name="Shape 26"/>
          <p:cNvSpPr/>
          <p:nvPr/>
        </p:nvSpPr>
        <p:spPr bwMode="auto">
          <a:xfrm>
            <a:off x="9701784" y="16002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15915899" name="Text 27"/>
          <p:cNvSpPr txBox="1"/>
          <p:nvPr/>
        </p:nvSpPr>
        <p:spPr bwMode="auto">
          <a:xfrm>
            <a:off x="9701784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accent1"/>
                </a:solidFill>
              </a:rPr>
              <a:t>5</a:t>
            </a:r>
            <a:endParaRPr lang="en-US" sz="1400"/>
          </a:p>
        </p:txBody>
      </p:sp>
      <p:sp>
        <p:nvSpPr>
          <p:cNvPr id="173232791" name="Text 28"/>
          <p:cNvSpPr txBox="1"/>
          <p:nvPr/>
        </p:nvSpPr>
        <p:spPr bwMode="auto">
          <a:xfrm>
            <a:off x="9701784" y="224028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700" b="1">
                <a:solidFill>
                  <a:schemeClr val="accent1"/>
                </a:solidFill>
              </a:rPr>
              <a:t>Managed services</a:t>
            </a:r>
            <a:endParaRPr lang="en-US" sz="1700"/>
          </a:p>
        </p:txBody>
      </p:sp>
      <p:sp>
        <p:nvSpPr>
          <p:cNvPr id="994439337" name="Text 29"/>
          <p:cNvSpPr txBox="1"/>
          <p:nvPr/>
        </p:nvSpPr>
        <p:spPr bwMode="auto">
          <a:xfrm>
            <a:off x="9701784" y="31089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accent3"/>
                </a:solidFill>
              </a:rPr>
              <a:t>Monthly retainer</a:t>
            </a:r>
            <a:endParaRPr lang="en-US" sz="1300"/>
          </a:p>
        </p:txBody>
      </p:sp>
      <p:sp>
        <p:nvSpPr>
          <p:cNvPr id="303103418" name="Text 30"/>
          <p:cNvSpPr txBox="1"/>
          <p:nvPr/>
        </p:nvSpPr>
        <p:spPr bwMode="auto">
          <a:xfrm>
            <a:off x="9701784" y="37947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500">
                <a:solidFill>
                  <a:schemeClr val="tx1"/>
                </a:solidFill>
              </a:rPr>
              <a:t>Recurring revenue that keeps the account</a:t>
            </a:r>
            <a:endParaRPr lang="en-US" sz="1500"/>
          </a:p>
        </p:txBody>
      </p:sp>
      <p:sp>
        <p:nvSpPr>
          <p:cNvPr id="1204772848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247120" y="635508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0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306298" name="Text 0"/>
          <p:cNvSpPr/>
          <p:nvPr>
            <p:ph type="title" idx="101" hasCustomPrompt="1"/>
          </p:nvPr>
        </p:nvSpPr>
        <p:spPr bwMode="auto">
          <a:xfrm>
            <a:off x="548640" y="32004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000" b="1">
                <a:solidFill>
                  <a:schemeClr val="accent1"/>
                </a:solidFill>
              </a:rPr>
              <a:t>Outbound engine: a predictable pipeline from month one</a:t>
            </a:r>
            <a:endParaRPr lang="en-US" sz="3000"/>
          </a:p>
        </p:txBody>
      </p:sp>
      <p:sp>
        <p:nvSpPr>
          <p:cNvPr id="1127680204" name="Shape 1"/>
          <p:cNvSpPr/>
          <p:nvPr/>
        </p:nvSpPr>
        <p:spPr bwMode="auto">
          <a:xfrm>
            <a:off x="548640" y="1371600"/>
            <a:ext cx="6035039" cy="9144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00092826" name="Text 2"/>
          <p:cNvSpPr txBox="1"/>
          <p:nvPr/>
        </p:nvSpPr>
        <p:spPr bwMode="auto">
          <a:xfrm>
            <a:off x="548640" y="1371600"/>
            <a:ext cx="60350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200" b="1">
                <a:solidFill>
                  <a:schemeClr val="bg1"/>
                </a:solidFill>
              </a:rPr>
              <a:t>400  </a:t>
            </a:r>
            <a:r>
              <a:rPr lang="en-US" sz="1300">
                <a:solidFill>
                  <a:schemeClr val="bg1"/>
                </a:solidFill>
              </a:rPr>
              <a:t>targeted contacts / month</a:t>
            </a:r>
            <a:endParaRPr lang="en-US" sz="1400"/>
          </a:p>
        </p:txBody>
      </p:sp>
      <p:sp>
        <p:nvSpPr>
          <p:cNvPr id="1077724024" name="Shape 3"/>
          <p:cNvSpPr/>
          <p:nvPr/>
        </p:nvSpPr>
        <p:spPr bwMode="auto">
          <a:xfrm>
            <a:off x="1097280" y="2468880"/>
            <a:ext cx="4937760" cy="91440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948969740" name="Text 4"/>
          <p:cNvSpPr txBox="1"/>
          <p:nvPr/>
        </p:nvSpPr>
        <p:spPr bwMode="auto">
          <a:xfrm>
            <a:off x="1097280" y="24688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200" b="1">
                <a:solidFill>
                  <a:schemeClr val="bg1"/>
                </a:solidFill>
              </a:rPr>
              <a:t>25–30  </a:t>
            </a:r>
            <a:r>
              <a:rPr lang="en-US" sz="1300">
                <a:solidFill>
                  <a:schemeClr val="bg1"/>
                </a:solidFill>
              </a:rPr>
              <a:t>conversations (~8–10% reply)</a:t>
            </a:r>
            <a:endParaRPr lang="en-US" sz="1400"/>
          </a:p>
        </p:txBody>
      </p:sp>
      <p:sp>
        <p:nvSpPr>
          <p:cNvPr id="1219730951" name="Shape 5"/>
          <p:cNvSpPr/>
          <p:nvPr/>
        </p:nvSpPr>
        <p:spPr bwMode="auto">
          <a:xfrm>
            <a:off x="1645920" y="3566160"/>
            <a:ext cx="3840480" cy="91440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00710726" name="Text 6"/>
          <p:cNvSpPr txBox="1"/>
          <p:nvPr/>
        </p:nvSpPr>
        <p:spPr bwMode="auto">
          <a:xfrm>
            <a:off x="1645920" y="356616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200" b="1">
                <a:solidFill>
                  <a:schemeClr val="bg1"/>
                </a:solidFill>
              </a:rPr>
              <a:t>8–10  </a:t>
            </a:r>
            <a:r>
              <a:rPr lang="en-US" sz="1300">
                <a:solidFill>
                  <a:schemeClr val="bg1"/>
                </a:solidFill>
              </a:rPr>
              <a:t>discovery meetings</a:t>
            </a:r>
            <a:endParaRPr lang="en-US" sz="1400"/>
          </a:p>
        </p:txBody>
      </p:sp>
      <p:sp>
        <p:nvSpPr>
          <p:cNvPr id="1305767813" name="Shape 7"/>
          <p:cNvSpPr/>
          <p:nvPr/>
        </p:nvSpPr>
        <p:spPr bwMode="auto">
          <a:xfrm>
            <a:off x="2194560" y="4663440"/>
            <a:ext cx="2743200" cy="91440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24563212" name="Text 8"/>
          <p:cNvSpPr txBox="1"/>
          <p:nvPr/>
        </p:nvSpPr>
        <p:spPr bwMode="auto">
          <a:xfrm>
            <a:off x="2194560" y="46634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200" b="1">
                <a:solidFill>
                  <a:schemeClr val="accent1"/>
                </a:solidFill>
              </a:rPr>
              <a:t>3–4  </a:t>
            </a:r>
            <a:r>
              <a:rPr lang="en-US" sz="1300">
                <a:solidFill>
                  <a:schemeClr val="accent1"/>
                </a:solidFill>
              </a:rPr>
              <a:t>qualified opportunities</a:t>
            </a:r>
            <a:endParaRPr lang="en-US" sz="1400"/>
          </a:p>
        </p:txBody>
      </p:sp>
      <p:sp>
        <p:nvSpPr>
          <p:cNvPr id="1985253600" name="Shape 9"/>
          <p:cNvSpPr/>
          <p:nvPr/>
        </p:nvSpPr>
        <p:spPr bwMode="auto">
          <a:xfrm>
            <a:off x="6949440" y="1371600"/>
            <a:ext cx="466344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04704921" name="Text 10"/>
          <p:cNvSpPr txBox="1"/>
          <p:nvPr/>
        </p:nvSpPr>
        <p:spPr bwMode="auto">
          <a:xfrm>
            <a:off x="7223760" y="15544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800" b="1">
                <a:solidFill>
                  <a:schemeClr val="accent1"/>
                </a:solidFill>
              </a:rPr>
              <a:t>Engine components</a:t>
            </a:r>
            <a:endParaRPr lang="en-US" sz="1800"/>
          </a:p>
        </p:txBody>
      </p:sp>
      <p:sp>
        <p:nvSpPr>
          <p:cNvPr id="1297995280" name="Text 11"/>
          <p:cNvSpPr txBox="1"/>
          <p:nvPr/>
        </p:nvSpPr>
        <p:spPr bwMode="auto">
          <a:xfrm>
            <a:off x="7223760" y="2103120"/>
            <a:ext cx="4206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Stack: Sales Navigator, Lusha, sequencing tool, Salesforce as our own CRM</a:t>
            </a:r>
            <a:endParaRPr lang="en-US" sz="16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3-week cadence: LinkedIn → value email → call → WhatsApp</a:t>
            </a:r>
            <a:endParaRPr lang="en-US" sz="16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Hooks: vertical insight, Health Check offer, local integrations</a:t>
            </a:r>
            <a:endParaRPr lang="en-US" sz="1600"/>
          </a:p>
        </p:txBody>
      </p:sp>
      <p:sp>
        <p:nvSpPr>
          <p:cNvPr id="1465863671" name="Shape 12"/>
          <p:cNvSpPr/>
          <p:nvPr/>
        </p:nvSpPr>
        <p:spPr bwMode="auto">
          <a:xfrm>
            <a:off x="6949440" y="4846320"/>
            <a:ext cx="4663440" cy="118872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9978357" name="Text 13"/>
          <p:cNvSpPr txBox="1"/>
          <p:nvPr/>
        </p:nvSpPr>
        <p:spPr bwMode="auto">
          <a:xfrm>
            <a:off x="7223760" y="493776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600" b="1">
                <a:solidFill>
                  <a:schemeClr val="accent2"/>
                </a:solidFill>
              </a:rPr>
              <a:t>$0.4–1M </a:t>
            </a:r>
            <a:r>
              <a:rPr lang="en-US" sz="1400">
                <a:solidFill>
                  <a:schemeClr val="bg1"/>
                </a:solidFill>
              </a:rPr>
              <a:t>outbound pipeline per quarter (5-7 opps at $40–150K), before co-sell and network deals for the first year.</a:t>
            </a:r>
            <a:endParaRPr lang="en-US" sz="1400"/>
          </a:p>
        </p:txBody>
      </p:sp>
      <p:sp>
        <p:nvSpPr>
          <p:cNvPr id="1740618358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247120" y="635508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6570977" name="Text 0"/>
          <p:cNvSpPr/>
          <p:nvPr>
            <p:ph type="title" idx="101" hasCustomPrompt="1"/>
          </p:nvPr>
        </p:nvSpPr>
        <p:spPr bwMode="auto">
          <a:xfrm>
            <a:off x="731520" y="27432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4000" b="1">
                <a:solidFill>
                  <a:schemeClr val="bg1"/>
                </a:solidFill>
              </a:rPr>
              <a:t>Execution roadmap</a:t>
            </a:r>
            <a:endParaRPr lang="en-US" sz="4000"/>
          </a:p>
        </p:txBody>
      </p:sp>
      <p:sp>
        <p:nvSpPr>
          <p:cNvPr id="1969976897" name="Text 0"/>
          <p:cNvSpPr/>
          <p:nvPr>
            <p:ph type="body" idx="102" hasCustomPrompt="1"/>
          </p:nvPr>
        </p:nvSpPr>
        <p:spPr bwMode="auto">
          <a:xfrm>
            <a:off x="731520" y="38404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/>
            </a:pPr>
            <a:r>
              <a:rPr lang="en-US" sz="2000">
                <a:solidFill>
                  <a:schemeClr val="accent2"/>
                </a:solidFill>
              </a:rPr>
              <a:t>UAE quick wins, KSA revenue engine</a:t>
            </a:r>
            <a:endParaRPr lang="en-US" sz="2000"/>
          </a:p>
        </p:txBody>
      </p:sp>
      <p:sp>
        <p:nvSpPr>
          <p:cNvPr id="1478777578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247120" y="635508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6710720" name="Text 0"/>
          <p:cNvSpPr/>
          <p:nvPr>
            <p:ph type="title" idx="101" hasCustomPrompt="1"/>
          </p:nvPr>
        </p:nvSpPr>
        <p:spPr bwMode="auto">
          <a:xfrm>
            <a:off x="548640" y="32004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000" b="1">
                <a:solidFill>
                  <a:schemeClr val="accent1"/>
                </a:solidFill>
              </a:rPr>
              <a:t>Roadmap: UAE base, KSA engine</a:t>
            </a:r>
            <a:endParaRPr lang="en-US" sz="3000"/>
          </a:p>
        </p:txBody>
      </p:sp>
      <p:sp>
        <p:nvSpPr>
          <p:cNvPr id="386852007" name="Shape 1"/>
          <p:cNvSpPr/>
          <p:nvPr/>
        </p:nvSpPr>
        <p:spPr bwMode="auto">
          <a:xfrm>
            <a:off x="731520" y="15544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63494055" name="Text 2"/>
          <p:cNvSpPr txBox="1"/>
          <p:nvPr/>
        </p:nvSpPr>
        <p:spPr bwMode="auto">
          <a:xfrm>
            <a:off x="7315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accent1"/>
                </a:solidFill>
              </a:rPr>
              <a:t>1</a:t>
            </a:r>
            <a:endParaRPr lang="en-US" sz="1400"/>
          </a:p>
        </p:txBody>
      </p:sp>
      <p:sp>
        <p:nvSpPr>
          <p:cNvPr id="66928855" name="Text 3"/>
          <p:cNvSpPr txBox="1"/>
          <p:nvPr/>
        </p:nvSpPr>
        <p:spPr bwMode="auto">
          <a:xfrm>
            <a:off x="132588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chemeClr val="accent3"/>
                </a:solidFill>
              </a:rPr>
              <a:t>0–3 months</a:t>
            </a:r>
            <a:endParaRPr lang="en-US" sz="1600"/>
          </a:p>
        </p:txBody>
      </p:sp>
      <p:sp>
        <p:nvSpPr>
          <p:cNvPr id="1310986595" name="Shape 4"/>
          <p:cNvSpPr/>
          <p:nvPr/>
        </p:nvSpPr>
        <p:spPr bwMode="auto">
          <a:xfrm>
            <a:off x="548640" y="2286000"/>
            <a:ext cx="3566160" cy="374904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17371674" name="Text 5"/>
          <p:cNvSpPr txBox="1"/>
          <p:nvPr/>
        </p:nvSpPr>
        <p:spPr bwMode="auto">
          <a:xfrm>
            <a:off x="822960" y="2468880"/>
            <a:ext cx="30175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000" b="1">
                <a:solidFill>
                  <a:schemeClr val="accent1"/>
                </a:solidFill>
              </a:rPr>
              <a:t>Foundation</a:t>
            </a:r>
            <a:endParaRPr lang="en-US" sz="2000"/>
          </a:p>
        </p:txBody>
      </p:sp>
      <p:sp>
        <p:nvSpPr>
          <p:cNvPr id="520487251" name="Text 6"/>
          <p:cNvSpPr txBox="1"/>
          <p:nvPr/>
        </p:nvSpPr>
        <p:spPr bwMode="auto">
          <a:xfrm>
            <a:off x="822960" y="3017519"/>
            <a:ext cx="3063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Salesforce PAM / AE introductions in Dubai and Riyadh</a:t>
            </a:r>
            <a:endParaRPr lang="en-US" sz="16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ICP, target list of 150 accounts, sequences live</a:t>
            </a:r>
            <a:endParaRPr lang="en-US" sz="16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First Health Checks and network meetings</a:t>
            </a:r>
            <a:endParaRPr lang="en-US" sz="1600"/>
          </a:p>
        </p:txBody>
      </p:sp>
      <p:sp>
        <p:nvSpPr>
          <p:cNvPr id="1288402401" name="Shape 7"/>
          <p:cNvSpPr/>
          <p:nvPr/>
        </p:nvSpPr>
        <p:spPr bwMode="auto">
          <a:xfrm>
            <a:off x="4480560" y="15544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85962440" name="Text 8"/>
          <p:cNvSpPr txBox="1"/>
          <p:nvPr/>
        </p:nvSpPr>
        <p:spPr bwMode="auto">
          <a:xfrm>
            <a:off x="448056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accent1"/>
                </a:solidFill>
              </a:rPr>
              <a:t>2</a:t>
            </a:r>
            <a:endParaRPr lang="en-US" sz="1400"/>
          </a:p>
        </p:txBody>
      </p:sp>
      <p:sp>
        <p:nvSpPr>
          <p:cNvPr id="427162784" name="Text 9"/>
          <p:cNvSpPr txBox="1"/>
          <p:nvPr/>
        </p:nvSpPr>
        <p:spPr bwMode="auto">
          <a:xfrm>
            <a:off x="507492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chemeClr val="accent3"/>
                </a:solidFill>
              </a:rPr>
              <a:t>3–6 months</a:t>
            </a:r>
            <a:endParaRPr lang="en-US" sz="1600"/>
          </a:p>
        </p:txBody>
      </p:sp>
      <p:sp>
        <p:nvSpPr>
          <p:cNvPr id="1926035200" name="Shape 10"/>
          <p:cNvSpPr/>
          <p:nvPr/>
        </p:nvSpPr>
        <p:spPr bwMode="auto">
          <a:xfrm>
            <a:off x="4297680" y="2286000"/>
            <a:ext cx="3566160" cy="374904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59672454" name="Text 11"/>
          <p:cNvSpPr txBox="1"/>
          <p:nvPr/>
        </p:nvSpPr>
        <p:spPr bwMode="auto">
          <a:xfrm>
            <a:off x="4572000" y="2468880"/>
            <a:ext cx="30175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000" b="1">
                <a:solidFill>
                  <a:schemeClr val="accent1"/>
                </a:solidFill>
              </a:rPr>
              <a:t>First wins</a:t>
            </a:r>
            <a:endParaRPr lang="en-US" sz="2000"/>
          </a:p>
        </p:txBody>
      </p:sp>
      <p:sp>
        <p:nvSpPr>
          <p:cNvPr id="816266008" name="Text 12"/>
          <p:cNvSpPr txBox="1"/>
          <p:nvPr/>
        </p:nvSpPr>
        <p:spPr bwMode="auto">
          <a:xfrm>
            <a:off x="4572000" y="3017519"/>
            <a:ext cx="3063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2–3 UAE mid-market deals closed</a:t>
            </a:r>
            <a:endParaRPr lang="en-US" sz="16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First KSA opportunities through network</a:t>
            </a:r>
            <a:endParaRPr lang="en-US" sz="16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Arabic consultant hired or partnered</a:t>
            </a:r>
            <a:endParaRPr lang="en-US" sz="1600"/>
          </a:p>
        </p:txBody>
      </p:sp>
      <p:sp>
        <p:nvSpPr>
          <p:cNvPr id="544985378" name="Shape 13"/>
          <p:cNvSpPr/>
          <p:nvPr/>
        </p:nvSpPr>
        <p:spPr bwMode="auto">
          <a:xfrm>
            <a:off x="8229600" y="15544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71054104" name="Text 14"/>
          <p:cNvSpPr txBox="1"/>
          <p:nvPr/>
        </p:nvSpPr>
        <p:spPr bwMode="auto">
          <a:xfrm>
            <a:off x="82296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accent1"/>
                </a:solidFill>
              </a:rPr>
              <a:t>3</a:t>
            </a:r>
            <a:endParaRPr lang="en-US" sz="1400"/>
          </a:p>
        </p:txBody>
      </p:sp>
      <p:sp>
        <p:nvSpPr>
          <p:cNvPr id="476495750" name="Text 15"/>
          <p:cNvSpPr txBox="1"/>
          <p:nvPr/>
        </p:nvSpPr>
        <p:spPr bwMode="auto">
          <a:xfrm>
            <a:off x="882396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chemeClr val="accent3"/>
                </a:solidFill>
              </a:rPr>
              <a:t>6–12 months</a:t>
            </a:r>
            <a:endParaRPr lang="en-US" sz="1600"/>
          </a:p>
        </p:txBody>
      </p:sp>
      <p:sp>
        <p:nvSpPr>
          <p:cNvPr id="1630727334" name="Shape 16"/>
          <p:cNvSpPr/>
          <p:nvPr/>
        </p:nvSpPr>
        <p:spPr bwMode="auto">
          <a:xfrm>
            <a:off x="8046720" y="2286000"/>
            <a:ext cx="3566160" cy="374904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82714207" name="Text 17"/>
          <p:cNvSpPr txBox="1"/>
          <p:nvPr/>
        </p:nvSpPr>
        <p:spPr bwMode="auto">
          <a:xfrm>
            <a:off x="8321039" y="2468880"/>
            <a:ext cx="30175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000" b="1">
                <a:solidFill>
                  <a:schemeClr val="accent1"/>
                </a:solidFill>
              </a:rPr>
              <a:t>Scale KSA</a:t>
            </a:r>
            <a:endParaRPr lang="en-US" sz="2000"/>
          </a:p>
        </p:txBody>
      </p:sp>
      <p:sp>
        <p:nvSpPr>
          <p:cNvPr id="276881408" name="Text 18"/>
          <p:cNvSpPr txBox="1"/>
          <p:nvPr/>
        </p:nvSpPr>
        <p:spPr bwMode="auto">
          <a:xfrm>
            <a:off x="8321039" y="3017519"/>
            <a:ext cx="3063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KSA legal setup or local alliance</a:t>
            </a:r>
            <a:endParaRPr lang="en-US" sz="16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Case studies published; event presence (LEAP)</a:t>
            </a:r>
            <a:endParaRPr lang="en-US" sz="16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AMS base building recurring revenue</a:t>
            </a:r>
            <a:endParaRPr lang="en-US" sz="1600"/>
          </a:p>
        </p:txBody>
      </p:sp>
      <p:sp>
        <p:nvSpPr>
          <p:cNvPr id="680334841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247120" y="635508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744399" name="Text 0"/>
          <p:cNvSpPr/>
          <p:nvPr>
            <p:ph type="title" idx="101" hasCustomPrompt="1"/>
          </p:nvPr>
        </p:nvSpPr>
        <p:spPr bwMode="auto">
          <a:xfrm>
            <a:off x="548640" y="32004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000" b="1">
                <a:solidFill>
                  <a:schemeClr val="accent1"/>
                </a:solidFill>
              </a:rPr>
              <a:t>What success requires: resources, KPIs and risks</a:t>
            </a:r>
            <a:endParaRPr lang="en-US" sz="3000"/>
          </a:p>
        </p:txBody>
      </p:sp>
      <p:sp>
        <p:nvSpPr>
          <p:cNvPr id="955348746" name="Shape 1"/>
          <p:cNvSpPr/>
          <p:nvPr/>
        </p:nvSpPr>
        <p:spPr bwMode="auto">
          <a:xfrm>
            <a:off x="548640" y="1371600"/>
            <a:ext cx="3566160" cy="466344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72208112" name="Text 2"/>
          <p:cNvSpPr txBox="1"/>
          <p:nvPr/>
        </p:nvSpPr>
        <p:spPr bwMode="auto">
          <a:xfrm>
            <a:off x="822960" y="1600200"/>
            <a:ext cx="30175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000" b="1">
                <a:solidFill>
                  <a:schemeClr val="accent1"/>
                </a:solidFill>
              </a:rPr>
              <a:t>What I need</a:t>
            </a:r>
            <a:endParaRPr lang="en-US" sz="2000"/>
          </a:p>
        </p:txBody>
      </p:sp>
      <p:sp>
        <p:nvSpPr>
          <p:cNvPr id="2089120783" name="Text 3"/>
          <p:cNvSpPr txBox="1"/>
          <p:nvPr/>
        </p:nvSpPr>
        <p:spPr bwMode="auto">
          <a:xfrm>
            <a:off x="822960" y="2194560"/>
            <a:ext cx="30632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Partner tier and certified headcount visibility</a:t>
            </a:r>
            <a:endParaRPr lang="en-US" sz="16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2–3 global case studies reworked for GCC</a:t>
            </a:r>
            <a:endParaRPr lang="en-US" sz="16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Arabic pre-sales consultant within 6 months</a:t>
            </a:r>
            <a:endParaRPr lang="en-US" sz="16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Event budget, GCC rate card, pricing authority</a:t>
            </a:r>
            <a:endParaRPr lang="en-US" sz="16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Intro to Salesforce PAM &amp; AEs (UAE / KSA)</a:t>
            </a:r>
            <a:endParaRPr lang="en-US" sz="16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KSA legal setup plan</a:t>
            </a:r>
            <a:endParaRPr lang="en-US" sz="1600"/>
          </a:p>
        </p:txBody>
      </p:sp>
      <p:sp>
        <p:nvSpPr>
          <p:cNvPr id="433949478" name="Shape 4"/>
          <p:cNvSpPr/>
          <p:nvPr/>
        </p:nvSpPr>
        <p:spPr bwMode="auto">
          <a:xfrm>
            <a:off x="4297680" y="1371600"/>
            <a:ext cx="3566160" cy="466344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20719678" name="Text 5"/>
          <p:cNvSpPr txBox="1"/>
          <p:nvPr/>
        </p:nvSpPr>
        <p:spPr bwMode="auto">
          <a:xfrm>
            <a:off x="4572000" y="1600200"/>
            <a:ext cx="30175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000" b="1">
                <a:solidFill>
                  <a:schemeClr val="accent1"/>
                </a:solidFill>
              </a:rPr>
              <a:t>KPIs</a:t>
            </a:r>
            <a:endParaRPr lang="en-US" sz="2000"/>
          </a:p>
        </p:txBody>
      </p:sp>
      <p:sp>
        <p:nvSpPr>
          <p:cNvPr id="1919339681" name="Text 6"/>
          <p:cNvSpPr txBox="1"/>
          <p:nvPr/>
        </p:nvSpPr>
        <p:spPr bwMode="auto">
          <a:xfrm>
            <a:off x="4572000" y="2194560"/>
            <a:ext cx="30632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Qualified leads and meetings per month</a:t>
            </a:r>
            <a:endParaRPr lang="en-US" sz="16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Pipeline value and conversion rate</a:t>
            </a:r>
            <a:endParaRPr lang="en-US" sz="16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New logos and revenue vs. quarterly target</a:t>
            </a:r>
            <a:endParaRPr lang="en-US" sz="16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Salesforce co-sell deals registered</a:t>
            </a:r>
            <a:endParaRPr lang="en-US" sz="16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AMS recurring revenue</a:t>
            </a:r>
            <a:endParaRPr lang="en-US" sz="1600"/>
          </a:p>
        </p:txBody>
      </p:sp>
      <p:sp>
        <p:nvSpPr>
          <p:cNvPr id="427573308" name="Shape 7"/>
          <p:cNvSpPr/>
          <p:nvPr/>
        </p:nvSpPr>
        <p:spPr bwMode="auto">
          <a:xfrm>
            <a:off x="8046720" y="1371600"/>
            <a:ext cx="3566160" cy="466344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37117969" name="Text 8"/>
          <p:cNvSpPr txBox="1"/>
          <p:nvPr/>
        </p:nvSpPr>
        <p:spPr bwMode="auto">
          <a:xfrm>
            <a:off x="8321039" y="1600200"/>
            <a:ext cx="30175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000" b="1">
                <a:solidFill>
                  <a:schemeClr val="accent1"/>
                </a:solidFill>
              </a:rPr>
              <a:t>Risks → mitigation</a:t>
            </a:r>
            <a:endParaRPr lang="en-US" sz="2000"/>
          </a:p>
        </p:txBody>
      </p:sp>
      <p:sp>
        <p:nvSpPr>
          <p:cNvPr id="512181756" name="Text 9"/>
          <p:cNvSpPr txBox="1"/>
          <p:nvPr/>
        </p:nvSpPr>
        <p:spPr bwMode="auto">
          <a:xfrm>
            <a:off x="8321039" y="2194560"/>
            <a:ext cx="30632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Long KSA cycles → mid-market and UAE mix</a:t>
            </a:r>
            <a:endParaRPr lang="en-US" sz="16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No local references → pilots and subcontracting</a:t>
            </a:r>
            <a:endParaRPr lang="en-US" sz="16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Offshore perception → local presence, hybrid delivery</a:t>
            </a:r>
            <a:endParaRPr lang="en-US" sz="16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1"/>
                </a:solidFill>
              </a:rPr>
              <a:t>Saudization → local alliance partner</a:t>
            </a:r>
            <a:endParaRPr lang="en-US" sz="1600"/>
          </a:p>
        </p:txBody>
      </p:sp>
      <p:sp>
        <p:nvSpPr>
          <p:cNvPr id="1619296610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247120" y="635508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4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733772" name="Text 0"/>
          <p:cNvSpPr/>
          <p:nvPr>
            <p:ph type="title" idx="101" hasCustomPrompt="1"/>
          </p:nvPr>
        </p:nvSpPr>
        <p:spPr bwMode="auto">
          <a:xfrm>
            <a:off x="731520" y="1828800"/>
            <a:ext cx="9601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  <a:defRPr/>
            </a:pPr>
            <a:r>
              <a:rPr lang="en-US" sz="4400" b="1">
                <a:solidFill>
                  <a:schemeClr val="bg1"/>
                </a:solidFill>
              </a:rPr>
              <a:t>Ready for the GCC</a:t>
            </a:r>
            <a:endParaRPr lang="en-US" sz="4400"/>
          </a:p>
        </p:txBody>
      </p:sp>
      <p:sp>
        <p:nvSpPr>
          <p:cNvPr id="1344852210" name="Text 0"/>
          <p:cNvSpPr/>
          <p:nvPr>
            <p:ph type="body" idx="102" hasCustomPrompt="1"/>
          </p:nvPr>
        </p:nvSpPr>
        <p:spPr bwMode="auto">
          <a:xfrm>
            <a:off x="731520" y="3749040"/>
            <a:ext cx="9601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/>
            </a:pPr>
            <a:r>
              <a:rPr lang="en-US" sz="2000">
                <a:solidFill>
                  <a:schemeClr val="accent6"/>
                </a:solidFill>
              </a:rPr>
              <a:t>Local front · Offshore engine · Salesforce-led, multi-platform (Zoho, Odoo, Microsoft)</a:t>
            </a:r>
            <a:endParaRPr lang="en-US" sz="2000"/>
          </a:p>
          <a:p>
            <a:pPr marL="0" indent="0" algn="l">
              <a:buNone/>
              <a:defRPr/>
            </a:pPr>
            <a:r>
              <a:rPr lang="en-US" sz="1600">
                <a:solidFill>
                  <a:schemeClr val="accent2"/>
                </a:solidFill>
              </a:rPr>
              <a:t>Next step: align on the 30-60-90 day plan, targets and resources</a:t>
            </a:r>
            <a:endParaRPr lang="en-US"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GCC Emerald">
  <a:themeElements>
    <a:clrScheme name="GCC Emerald">
      <a:dk1>
        <a:srgbClr val="1C2321"/>
      </a:dk1>
      <a:lt1>
        <a:srgbClr val="FFFFFF"/>
      </a:lt1>
      <a:dk2>
        <a:srgbClr val="0B3D3A"/>
      </a:dk2>
      <a:lt2>
        <a:srgbClr val="EEF3F2"/>
      </a:lt2>
      <a:accent1>
        <a:srgbClr val="0B3D3A"/>
      </a:accent1>
      <a:accent2>
        <a:srgbClr val="C9A227"/>
      </a:accent2>
      <a:accent3>
        <a:srgbClr val="2A7F78"/>
      </a:accent3>
      <a:accent4>
        <a:srgbClr val="B5543C"/>
      </a:accent4>
      <a:accent5>
        <a:srgbClr val="6B7B78"/>
      </a:accent5>
      <a:accent6>
        <a:srgbClr val="DCE7E5"/>
      </a:accent6>
      <a:hlink>
        <a:srgbClr val="2A7F78"/>
      </a:hlink>
      <a:folHlink>
        <a:srgbClr val="6B7B78"/>
      </a:folHlink>
    </a:clrScheme>
    <a:fontScheme name="GCC Emerald">
      <a:majorFont>
        <a:latin typeface="Cambria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24</Slides>
  <Notes>24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Ashapura Softech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GCC Go-to-Market Strategy – Salesforce-Led Expansion</dc:title>
  <dc:subject>PptxGenJS Presentation</dc:subject>
  <dc:creator>PptxGenJS</dc:creator>
  <cp:lastModifiedBy/>
  <cp:revision>2</cp:revision>
  <dcterms:created xsi:type="dcterms:W3CDTF">2026-10-18T11:41:22Z</dcterms:created>
  <dcterms:modified xsi:type="dcterms:W3CDTF">2026-10-19T10:53:12Z</dcterms:modified>
</cp:coreProperties>
</file>