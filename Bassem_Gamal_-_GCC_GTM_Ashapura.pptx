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f403ec7-1e52-18b9-2e35-d75831a9cb24}">
          <p14:sldIdLst>
            <p14:sldId id="256"/>
            <p14:sldId id="257"/>
            <p14:sldId id="258"/>
          </p14:sldIdLst>
        </p14:section>
        <p14:section name="The market opportunity" id="{c5d644be-0bcb-55be-968b-e7ed1b59da47}">
          <p14:sldIdLst>
            <p14:sldId id="259"/>
            <p14:sldId id="260"/>
            <p14:sldId id="261"/>
            <p14:sldId id="262"/>
            <p14:sldId id="263"/>
          </p14:sldIdLst>
        </p14:section>
        <p14:section name="The competitive landscape" id="{a693a049-57a8-1a38-7640-f9f9627ba7f2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Go-to-market plan" id="{11ddc09f-6983-f33c-7cec-2c3667ad1fac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Execution roadmap" id="{d3bac4c4-0a1c-6e5d-54b4-26280c6e063e}">
          <p14:sldIdLst>
            <p14:sldId id="276"/>
            <p14:sldId id="277"/>
            <p14:sldId id="278"/>
          </p14:sldIdLst>
        </p14:section>
        <p14:section name="Close" id="{293d62d3-8b5b-3abe-a1a0-588b630451d0}">
          <p14:sldIdLst>
            <p14:sldId id="279"/>
          </p14:sldIdLst>
        </p14:section>
        <p14:section name="Appendix" id="{8e8fada3-07a2-5691-2a33-9877fc043710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32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C2321"/>
                </a:solidFill>
                <a:latin typeface="+mn-lt"/>
              </a:rPr>
              <a:t>Saudi CRM marketing services, USD M (Mordor)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Saudi CRM marketing services (USD M)</c:v>
                </c:pt>
              </c:strCache>
            </c:strRef>
          </c:tx>
          <c:spPr>
            <a:solidFill>
              <a:srgbClr val="0B3D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C23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2031F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314</c:v>
                </c:pt>
                <c:pt idx="1">
                  <c:v>638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C23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7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thesis: Ashapura should not enter as 'another Salesforce partner'. Win with a local front and an offshore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messages. Everything after this slide proves 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are hiring a person as much as a plan. Keep this to 60 seconds: experience, proof, network,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Salesforce's $500M pledge explicitly includes expanding the local partner ecosystem. Hyperforce removes the data-residency blocker for banks, government and healthcare.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Analyst scopes differ (software vs services). Present as ranges and direction, not precise sizing.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localization hooks to lead every conversation with. Global vendors fumble them; offshore vendors don't know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estate isn't on the Ashapura website but is arguably the #1 CRM vertical in the GCC. Lead with my existing logos: Memar (real estate) and Saudi East (automotive).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real fight is with the regional specialists and the Indian offshore peers, not with Accenture.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Tiers and figures are mostly self-reported. Verify each in the Salesforce partner directory before the meeting; tiers change yearly.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Netsmartz is the closest mirror of Ashapura: Indian delivery, Dubai entity via the AmyTech DMCC acquisition, heavy GCC real-estate marketing, multi-platform.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visual that sells the positioning. Nobody credibly owns the top-left quadrant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five primary competitors in the meeting: Smaartt, Cloudzlab, Arcsen, Cloud Concept, Netsmartz.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sentence every salesperson, partner and Salesforce AE should be able to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Signals tell us when to reach out. A company hiring a Salesforce admin is a live opportunity this quarter.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new entrants ignore Salesforce co-sell. It is the #1 deal source for implementation partners and my first 30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market that doesn't know us yet buys packaged, low-risk offers first. The Health Check is the best door-opener at existing Salesforce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funnel; calibrate with Ashapura's actual deal sizes and win 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KSA at scale needs a MISA licence or local partner; government work increasingly favors firms with a Saudi RHQ.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operator thinking: what I need from leadership, how we measure progress, and what could go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Competitor tiers and figures are largely self-reported; verified against the Salesforce partner directory before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utbound-leads-/9145f664-c220-51ee-8c06-d6606c027aa9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246888"/>
            <a:ext cx="1197864" cy="119786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28800"/>
            <a:ext cx="96012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49040"/>
            <a:ext cx="9601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utbound-leads-/9145f664-c220-51ee-8c06-d6606c027aa9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246888"/>
            <a:ext cx="1197864" cy="119786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utbound-leads-/9145f664-c220-51ee-8c06-d6606c027aa9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6808" y="246888"/>
            <a:ext cx="612648" cy="6126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Ashapura Softech  |  GCC Go-to-Market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18288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Winning the GCC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37490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GTM strategy for Ashapura Softech in KSA &amp; UAE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Business Development Manager – GCC  |  Market insights &amp; penetration plan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486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Bassem Gamal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Sales &amp; Business Development, GCC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Executive summary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6184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4884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Salesforce is investing heavily in KSA ($500M, Riyadh HQ, local Hyperforce). Demand is outpacing local partner capacity.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172200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16184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play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214884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GCC mid-market, 100–2,000 employees: real estate, automotive, BFSI, healthcare, retail &amp; trading, logistics.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379476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40873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win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61772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Local front + offshore engine. Multi-platform credibility at 30–50% below local specialists.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172200" y="379476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46520" y="4069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46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086600" y="40873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start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461772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Salesforce co-sell first, then network, outbound engine, events. UAE quick wins, KSA as the revenue engine.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Why me: the right first hire for a new region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5394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3560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yrs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514600" y="143560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B2B sales and business development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5394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62432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yrs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2514600" y="26243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technology: Salesforce and Odoo / ERP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703320"/>
            <a:ext cx="5394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8130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Dubai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2514600" y="38130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Based in the UAE with Emirates ID: ready to start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4892040"/>
            <a:ext cx="5394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500176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KSA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2514600" y="500176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Active decision-maker network, plus events to expand it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17920" y="1325880"/>
            <a:ext cx="5394960" cy="2148840"/>
          </a:xfrm>
          <a:prstGeom prst="roundRect">
            <a:avLst>
              <a:gd name="adj" fmla="val 340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Logos I have closed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492240" y="219456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92240" y="21945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Memar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138160" y="219456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38160" y="21945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Saudi East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784080" y="219456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784080" y="21945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Marakex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3108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Real estate · Automotive · Technology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217920" y="3703320"/>
            <a:ext cx="53949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92240" y="3886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 bring on day one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438912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Salesforce and Odoo selling experience: credible across the multi-platform offer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Full-cycle hunter: prospecting to close, independently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Cross-vertical exposure in all six priority verticals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market opportunity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Why the GCC, why Salesforce, why now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Salesforce is betting on Saudi Arabia, and partners are the bottleneck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$500M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Salesforce investment in KSA announced at LEAP 2025, including partner-ecosystem expansion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37560" y="146304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Riyadh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New Salesforce regional HQ (Jan 2025) plus an AI Center of Excellence with IBM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26480" y="146304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Hyperforce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Local hosting on AWS in KSA unlocks BFSI, government and healthcare (SAMA/PDPL)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915400" y="146304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30k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0" y="27889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Saudis to be upskilled by Salesforce by 2030, a signal of long-term demand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Implication: Salesforce needs more capable local partners. A new entrant with real delivery capacity is welcome, not blocked.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 double-digit growth market, led by KSA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8521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6766560" y="1371600"/>
            <a:ext cx="4846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995160" y="1554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8778240" y="15544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KSA share of the GCC CRM market, the largest country (IMARC)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766560" y="2971800"/>
            <a:ext cx="4846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995160" y="31546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12.9%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8778240" y="31546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Saudi CRM services CAGR to 2031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766560" y="4572000"/>
            <a:ext cx="48463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95160" y="47548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13.6%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8778240" y="47548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UAE CRM services CAGR to 2031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0" y="5760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Second wave: existing Salesforce customers now need optimization, data cleanup and Agentforce readiness.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What GCC buyers need, and competitors under-deliver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Arabic / RTL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Bilingual portals for government, retail and healthcare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97680" y="137160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WhatsApp-first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dominant customer channel in the region, and non-negotiable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46720" y="137160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Local integrations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ZATCA e-invoicing, Nafath, UAE Pass, SADAD, local portals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Compliance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PDPL, SAMA, data residency through Hyperforce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297680" y="374904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0" y="4023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Rescue &amp; optimize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Poorly implemented orgs, low adoption, unused licenses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046720" y="3749040"/>
            <a:ext cx="35661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21040" y="4023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210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32104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Managed services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Local Salesforce talent shortage creates recurring support (AMS) demand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Priority verticals: start where we already have proof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  <a:gridCol w="4480560"/>
                <a:gridCol w="32918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Priority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Vertical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Why it matters in GCC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Lead Salesforce play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Real estate &amp; developers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Off-plan sales boom in UAE and KSA; portal-driven leads (Bayut, Property Finder)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Sales Cloud + Experience Cloud broker portal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Automotive dealerships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Large family-owned dealer groups, service retention, multi-brand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Automotive Cloud / Service Cloud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BFSI &amp; fintech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Unlocked by Hyperforce; digital banking and lending growth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Financial Services Cloud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Healthcare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Private hospital groups expanding in KSA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Health Cloud + patient engagement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Retail, eCommerce &amp; trading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Large trading houses and distributors: B2B ordering, dealer networks, omnichannel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Commerce Cloud (B2B) + Sales Cloud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Logistics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Vision 2030 logistics-hub agenda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Service Cloud + field service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competitive landscape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Who is already winning in KSA &amp; UAE, and where they are exposed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Five competitor groups, and two that matter most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Global SIs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566160" y="14173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Accenture, Deloitte, PwC, Capgemini, IBM, Globant, Publicis Sapient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41832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41832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Low in mid-market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377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Regional specialists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23774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Smaartt, Cloudzlab, Arcsen, Cloud Concept, EI-Technologies, Cloudastick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418320" y="246888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41832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High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24612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337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Egypt/Levant delivery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566160" y="33375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Cloudzlab, Cloud Concept, zCloud: Arabic at near-offshore rates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418320" y="342900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1832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Medium–High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20624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4297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Indian offshore peers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42976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Netsmartz, Ksolves, Cynoteck, Codleo, Appsierra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418320" y="438912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418320" y="4389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High (same pitch)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516636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5257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Substitutes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3566160" y="5257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Microsoft Dynamics, Zoho, HubSpot, Odoo partners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418320" y="5349240"/>
            <a:ext cx="201168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18320" y="5349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Neutralized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418320" y="1005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Threat to Ashapura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Regional Salesforce specialists: the main battlefield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4754880"/>
                <a:gridCol w="237744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Firm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Base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Positioning / claims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Exposed 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Smaartt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Dubai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Claims largest regional partner; Summit; UAE, KSA, Qatar, Oman; 150+ customers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Premium price, capacity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Cloudzlab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Dubai + Cairo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Since 2015; ME Partner of the Year FY20; Platinum/Summit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Salesforce-only, mid-size bench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Arcsen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Dubai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Founded 2021; Salesforce, MuleSoft, Tableau, Slack; retail, auto, airlines, public sector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Young, few long-term references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Cloud Concept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Dubai / Cairo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Partner since 2009; 300+ projects; UAE, Egypt, Qatar, KSA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Ageing positioning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EI-Technologies Arabia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Riyadh, AD, Dubai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 region since 2011; KSA presence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Smaller scale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Cloudastick Systems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KSA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Sales, Service, Marketing Cloud; 24/7 managed support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Thin public footprint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Sendan / Cetrix / Leadex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Riyadh / KSA / Dubai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ZATCA localization; Salesforce.org; MuleSoft integration niches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Niche, limited breadth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Global SIs above us, offshore look-alikes beside us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5440680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Global system integrators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Accenture · Deloitte · PwC · Capgemini · IBM · Globant · Publicis Sapient (Changi) · KPMG · EY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3464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Strong: brand, government and giga-project access, Salesforce co-sell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Weak: expensive, slow, ignore deals under ~$300–500K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Our play: own the mid-market and offer subcontract delivery capacity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72200" y="1325880"/>
            <a:ext cx="5440680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Indian offshore peers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2011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Netsmartz · Ksolves · Cynoteck · Codleo · Appsierra · Cloud Analogy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83464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Strong: lowest price, large bench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Weak: SEO-led, remote, few GCC case studies, transactional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Our play: real local presence, KSA network, vertical packages, on-site workshops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The open space: local presence at offshore price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22960" y="1371600"/>
            <a:ext cx="3474720" cy="2331720"/>
          </a:xfrm>
          <a:prstGeom prst="rect">
            <a:avLst/>
          </a:prstGeom>
          <a:solidFill>
            <a:schemeClr val="accent6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6035040"/>
            <a:ext cx="69494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822960" y="1371600"/>
            <a:ext cx="0" cy="46634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7" name="Shape 4"/>
          <p:cNvSpPr/>
          <p:nvPr/>
        </p:nvSpPr>
        <p:spPr>
          <a:xfrm>
            <a:off x="4297680" y="1371600"/>
            <a:ext cx="0" cy="466344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822960" y="3703320"/>
            <a:ext cx="694944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675120" y="6080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Price →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Local presence &amp; GCC references ↑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0" y="182880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9496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Global SIs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0" y="265176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Regional specialists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926080" y="347472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2608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Egypt/Levant delivery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188720" y="493776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88720" y="4937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Indian offshore peers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188720" y="2011680"/>
            <a:ext cx="21945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8872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Ashapura target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229600" y="1371600"/>
            <a:ext cx="3383280" cy="466344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03920" y="1600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Our position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0" y="2148840"/>
            <a:ext cx="2880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Local relationship owner in Dubai, covering KSA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India delivery at 30–50% below local specialists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Salesforce-led, with Zoho, Odoo and Microsoft when they fit better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 never lose a deal to a platform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How we beat each competitor group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2743200"/>
                <a:gridCol w="34747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Competitor group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Their strength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Their weakness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Ashapura wins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Global SIs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Brand, C-suite and government access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Cost, speed, junior delivery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Mid-market focus; subcontract delivery to them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Regional specialists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References, Arabic, Salesforce AE ties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Premium pricing, capacity, Salesforce-only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Fixed-price packages, 72h proposals, multi-platform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Egypt/Levant delivery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Arabic at low cost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Narrow platform scope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Hire 1–2 Arabic consultants in-region; broader stack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Indian offshore peers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Lowest price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local presence or references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Local face, KSA network, on-site workshops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Substitutes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Lower license cost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Platform-locked advice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Platform-agnostic: right tool, Zoho → Salesforce path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Go-to-market plan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Positioning, ICP, channels and offers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Positioning: a local front with an offshore engine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1064240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5087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Salesforce-led, multi-platform CRM partner for GCC growth companies: local ownership, Arabic-ready, delivered at offshore speed and cost.”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48640" y="329184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3566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Local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709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Dubai-based, KSA network, face-to-face selling (how Saudi decision-makers buy), Arabic capability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97680" y="329184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3566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Multi-platform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4709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Salesforce 70% · Zoho 20% · Odoo / Microsoft 10%. The right fit, every time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46720" y="329184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3566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210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Value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4709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Fixed-price packages, offshore cost, 6–8 week QuickStarts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Ideal customer profile and buying signals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606040" cy="4663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Who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94560"/>
            <a:ext cx="2194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GCC companies with 100–2,000 employees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six priority verticals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UAE and KSA first, then Qatar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37560" y="1371600"/>
            <a:ext cx="2606040" cy="4663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Segments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194560"/>
            <a:ext cx="2194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 Salesforce, under-using it: rescue / AMS / AI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 Zoho, Dynamics or legacy and scaling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Greenfield: new entities, RHQs, giga-project suppliers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26480" y="1371600"/>
            <a:ext cx="2606040" cy="4663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Personas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2194560"/>
            <a:ext cx="2194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CIO / CTO / CDO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Head of Sales, Customer Experience or Marketing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CFO (ZATCA, cost), owner / GM of family groups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915400" y="1371600"/>
            <a:ext cx="2606040" cy="4663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Signals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0" y="2194560"/>
            <a:ext cx="2194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Hiring Salesforce admins or developers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KSA expansion or RHQ licence, funding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New CX leadership; Etimad tenders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Channel strategy, in order of leverage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Salesforce co-sell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3716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Partner Account Managers and AEs in Dubai and Riyadh hand implementation work to trusted partners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Personal network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114800" y="2194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Warm intros in KSA and UAE: automotive, real estate, ERP / Odoo contacts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Outbound engine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114800" y="30175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Signal-based prospecting with Sales Navigator and Lusha, plus multi-touch sequences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Events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11480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GITEX (Dubai, Oct), LEAP (Riyadh, Feb), Big 5 Saudi (real estate), Salesforce World Tour, Cityscape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663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Alliances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4114800" y="4663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WhatsApp/CPaaS providers, ERP partners, ISVs, Global SIs for subcontracting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5486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Content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4114800" y="5486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Arabic + English LinkedIn content, GCC playbooks (ZATCA, WhatsApp, Agentforce)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Entry offers: packaged wedges to shorten the first sale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103120" cy="45720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Org Health Check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2 weeks · free or low cost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7947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Opens doors at existing Salesforce customers; leads to rescue and AMS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779776" y="1371600"/>
            <a:ext cx="2103120" cy="45720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08376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0837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008376" y="2240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Vertical QuickStart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008376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6–8 weeks · fixed price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008376" y="37947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Real estate CRM or dealer CRM on Sales and Service Cloud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010912" y="1371600"/>
            <a:ext cx="2103120" cy="45720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39512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3951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239512" y="2240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Zoho → Salesforce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239512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Migration package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239512" y="37947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 scale-ups outgrowing Zoho; our multi-platform edge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242048" y="1371600"/>
            <a:ext cx="2103120" cy="45720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70648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7064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70648" y="2240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Agentforce Pilot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7470648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4-week proof of concept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470648" y="37947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AI use case, built on clean data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473184" y="1371600"/>
            <a:ext cx="2103120" cy="45720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01784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0178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701784" y="2240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Managed services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9701784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Monthly retainer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701784" y="37947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Recurring revenue that keeps the account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Outbound engine: a predictable pipeline from month one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603504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716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400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targeted contacts / month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97280" y="2468880"/>
            <a:ext cx="4937760" cy="91440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468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25–30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conversations (~8–10% reply)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645920" y="3566160"/>
            <a:ext cx="3840480" cy="9144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45920" y="3566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8–10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discovery meetings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94560" y="4663440"/>
            <a:ext cx="274320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94560" y="4663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3–4  </a:t>
            </a:r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qualified opportunities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949440" y="1371600"/>
            <a:ext cx="46634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23760" y="1554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Engine components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210312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Stack: Sales Navigator, Lusha, sequencing tool, Salesforce as our own CRM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3-week cadence: LinkedIn → value email → call → WhatsApp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Hooks: vertical insight, Health Check offer, local integrations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949440" y="4846320"/>
            <a:ext cx="466344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23760" y="49377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$0.4–1.8M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outbound pipeline per quarter (9–12 opps at $40–150K), before co-sell and network deals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Execution roadmap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UAE quick wins, KSA revenue engine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Roadmap: UAE base, KSA engine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0–3 months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3566160" cy="37490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Foundation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175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Salesforce PAM / AE introductions in Dubai and Riyadh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ICP, target list of 150 accounts, sequences live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First Health Checks and network meetings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80560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805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7492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3–6 months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97680" y="2286000"/>
            <a:ext cx="3566160" cy="37490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First wins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30175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2–3 UAE mid-market deals closed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First KSA opportunities through network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Arabic consultant hired or partnered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29600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6–12 months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46720" y="2286000"/>
            <a:ext cx="3566160" cy="37490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2104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Scale KSA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0175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KSA legal setup or local alliance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Case studies published; event presence (LEAP)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AMS base building recurring revenue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What success requires: resources, KPIs and risks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566160" cy="46634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I need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3063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Partner tier and certified headcount visibility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2–3 global case studies reworked for GCC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Arabic pre-sales consultant within 6 months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Event budget, GCC rate card, pricing authority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Intro to Salesforce PAM &amp; AEs (UAE / KSA)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KSA legal setup plan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97680" y="1371600"/>
            <a:ext cx="3566160" cy="46634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KPIs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194560"/>
            <a:ext cx="3063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Qualified leads and meetings per month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Pipeline value and conversion rate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New logos and revenue vs. quarterly target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Salesforce co-sell deals registered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AMS recurring revenue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46720" y="1371600"/>
            <a:ext cx="3566160" cy="46634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2104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Risks → mitigation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2194560"/>
            <a:ext cx="3063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Long KSA cycles → mid-market and UAE mix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local references → pilots and subcontracting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Offshore perception → local presence, hybrid delivery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Saudization → local alliance partner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18288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Ready for the GCC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731520" y="37490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Local front · Offshore engine · Salesforce-led, multi-platform (Zoho, Odoo, Microsoft)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Next step: align on the 30-60-90 day plan, targets and resources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Appendix: sources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Salesforce newsroom: Riyadh regional HQ (Jan 2025); $500M Saudi investment (Feb 2025)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Intelligent CIO / Bridgemena: Hyperforce on AWS in KSA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IMARC: GCC CRM market (KSA ~30% share); Mordor Intelligence: GCC &amp; Saudi CRM marketing services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Consultancy-me: Salesforce and IBM AI Center of Excellence, Riyadh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Gulf News: Publicis Sapient acquires Changi Consulting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AppExchange, G2, company sites and job listings: Smaartt, Cloudzlab, Arcsen, Cloud Concept, Cloudastick, Netsmartz, Sendan, EI-Technologies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Partner directories: Azdan, TechBehemoths, GoodFirms, Ksolves, Cynoteck, Codleo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CC Emerald">
  <a:themeElements>
    <a:clrScheme name="GCC Emerald">
      <a:dk1>
        <a:srgbClr val="1C2321"/>
      </a:dk1>
      <a:lt1>
        <a:srgbClr val="FFFFFF"/>
      </a:lt1>
      <a:dk2>
        <a:srgbClr val="0B3D3A"/>
      </a:dk2>
      <a:lt2>
        <a:srgbClr val="EEF3F2"/>
      </a:lt2>
      <a:accent1>
        <a:srgbClr val="0B3D3A"/>
      </a:accent1>
      <a:accent2>
        <a:srgbClr val="C9A227"/>
      </a:accent2>
      <a:accent3>
        <a:srgbClr val="2A7F78"/>
      </a:accent3>
      <a:accent4>
        <a:srgbClr val="B5543C"/>
      </a:accent4>
      <a:accent5>
        <a:srgbClr val="6B7B78"/>
      </a:accent5>
      <a:accent6>
        <a:srgbClr val="DCE7E5"/>
      </a:accent6>
      <a:hlink>
        <a:srgbClr val="2A7F78"/>
      </a:hlink>
      <a:folHlink>
        <a:srgbClr val="6B7B78"/>
      </a:folHlink>
    </a:clrScheme>
    <a:fontScheme name="GCC Emera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Ashapura Softech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GCC Go-to-Market Strategy – Salesforce-Led Expansion</dc:title>
  <dc:subject>PptxGenJS Presentation</dc:subject>
  <dc:creator>PptxGenJS</dc:creator>
  <cp:lastModifiedBy>PptxGenJS</cp:lastModifiedBy>
  <cp:revision>1</cp:revision>
  <dcterms:created xsi:type="dcterms:W3CDTF">2026-10-18T11:41:22Z</dcterms:created>
  <dcterms:modified xsi:type="dcterms:W3CDTF">2026-10-18T11:41:22Z</dcterms:modified>
</cp:coreProperties>
</file>